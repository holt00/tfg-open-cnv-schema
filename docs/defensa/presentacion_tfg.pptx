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Pruebas</c:v>
                </c:pt>
              </c:strCache>
            </c:strRef>
          </c:tx>
          <c:spPr>
            <a:solidFill>
              <a:srgbClr val="065A82"/>
            </a:solidFill>
            <a:ln w="0">
              <a:noFill/>
            </a:ln>
          </c:spPr>
          <c:invertIfNegative val="0"/>
          <c:dLbls>
            <c:numFmt formatCode="0" sourceLinked="0"/>
            <c:txPr>
              <a:bodyPr wrap="square"/>
              <a:lstStyle/>
              <a:p>
                <a:pPr>
                  <a:defRPr sz="1000" b="0" u="none" strike="noStrike">
                    <a:solidFill>
                      <a:srgbClr val="162230"/>
                    </a:solidFill>
                    <a:uFillTx/>
                    <a:latin typeface="Calibri"/>
                  </a:defRPr>
                </a:pPr>
              </a:p>
            </c:txPr>
            <c:dLblPos val="outEnd"/>
            <c:showLegendKey val="0"/>
            <c:showVal val="1"/>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8"/>
                <c:pt idx="0">
                  <c:v>Artefactos generados</c:v>
                </c:pt>
                <c:pt idx="1">
                  <c:v>Normalización y trazabilidad</c:v>
                </c:pt>
                <c:pt idx="2">
                  <c:v>Política semántica</c:v>
                </c:pt>
                <c:pt idx="3">
                  <c:v>JSON Schema y validación</c:v>
                </c:pt>
                <c:pt idx="4">
                  <c:v>Parsers e importadores</c:v>
                </c:pt>
                <c:pt idx="5">
                  <c:v>Almacenamiento y versiones</c:v>
                </c:pt>
                <c:pt idx="6">
                  <c:v>Exportación</c:v>
                </c:pt>
                <c:pt idx="7">
                  <c:v>Extremo a extremo</c:v>
                </c:pt>
              </c:strCache>
            </c:strRef>
          </c:cat>
          <c:val>
            <c:numRef>
              <c:f>0</c:f>
              <c:numCache>
                <c:formatCode>General</c:formatCode>
                <c:ptCount val="8"/>
                <c:pt idx="0">
                  <c:v>146</c:v>
                </c:pt>
                <c:pt idx="1">
                  <c:v>90</c:v>
                </c:pt>
                <c:pt idx="2">
                  <c:v>76</c:v>
                </c:pt>
                <c:pt idx="3">
                  <c:v>25</c:v>
                </c:pt>
                <c:pt idx="4">
                  <c:v>63</c:v>
                </c:pt>
                <c:pt idx="5">
                  <c:v>25</c:v>
                </c:pt>
                <c:pt idx="6">
                  <c:v>19</c:v>
                </c:pt>
                <c:pt idx="7">
                  <c:v>44</c:v>
                </c:pt>
              </c:numCache>
            </c:numRef>
          </c:val>
        </c:ser>
        <c:gapWidth val="150"/>
        <c:overlap val="0"/>
        <c:axId val="21719795"/>
        <c:axId val="66621354"/>
      </c:barChart>
      <c:catAx>
        <c:axId val="21719795"/>
        <c:scaling>
          <c:orientation val="minMax"/>
        </c:scaling>
        <c:delete val="0"/>
        <c:axPos val="b"/>
        <c:numFmt formatCode="[$-C0A]dd/mm/yyyy" sourceLinked="1"/>
        <c:majorTickMark val="out"/>
        <c:minorTickMark val="none"/>
        <c:tickLblPos val="nextTo"/>
        <c:spPr>
          <a:ln w="9360">
            <a:solidFill>
              <a:srgbClr val="D8E2EA"/>
            </a:solidFill>
            <a:round/>
          </a:ln>
        </c:spPr>
        <c:txPr>
          <a:bodyPr/>
          <a:lstStyle/>
          <a:p>
            <a:pPr>
              <a:defRPr sz="1050" b="0" u="none" strike="noStrike">
                <a:solidFill>
                  <a:srgbClr val="162230"/>
                </a:solidFill>
                <a:uFillTx/>
                <a:latin typeface="Calibri"/>
              </a:defRPr>
            </a:pPr>
          </a:p>
        </c:txPr>
        <c:crossAx val="66621354"/>
        <c:crosses val="autoZero"/>
        <c:auto val="1"/>
        <c:lblAlgn val="ctr"/>
        <c:lblOffset val="100"/>
        <c:noMultiLvlLbl val="0"/>
      </c:catAx>
      <c:valAx>
        <c:axId val="66621354"/>
        <c:scaling>
          <c:orientation val="minMax"/>
          <c:max val="165"/>
          <c:min val="0"/>
        </c:scaling>
        <c:delete val="1"/>
        <c:axPos val="l"/>
        <c:numFmt formatCode="General" sourceLinked="1"/>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1719795"/>
        <c:crossBetween val="between"/>
      </c:valAx>
      <c:spPr>
        <a:noFill/>
        <a:ln w="0">
          <a:noFill/>
        </a:ln>
      </c:spPr>
    </c:plotArea>
    <c:plotVisOnly val="1"/>
    <c:dispBlanksAs val="gap"/>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Pulse para desplazar la diapositiva</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s-ES" sz="2000" b="0" u="none" strike="noStrike">
                <a:solidFill>
                  <a:srgbClr val="000000"/>
                </a:solidFill>
                <a:effectLst/>
                <a:uFillTx/>
                <a:latin typeface="Arial"/>
              </a:rPr>
              <a:t>Pulse para editar el formato de las notas</a:t>
            </a:r>
            <a:endParaRPr lang="es-E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s-ES" sz="1400" b="0" u="none" strike="noStrike">
                <a:solidFill>
                  <a:srgbClr val="000000"/>
                </a:solidFill>
                <a:effectLst/>
                <a:uFillTx/>
                <a:latin typeface="Times New Roman"/>
              </a:rPr>
              <a:t>&lt;cabecera&gt;</a:t>
            </a:r>
            <a:endParaRPr lang="es-E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s-ES" sz="1400" b="0" u="none" strike="noStrike">
                <a:solidFill>
                  <a:srgbClr val="000000"/>
                </a:solidFill>
                <a:effectLst/>
                <a:uFillTx/>
                <a:latin typeface="Times New Roman"/>
              </a:defRPr>
            </a:lvl1pPr>
          </a:lstStyle>
          <a:p>
            <a:pPr indent="0" algn="r">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s-ES" sz="1400" b="0" u="none" strike="noStrike">
                <a:solidFill>
                  <a:srgbClr val="000000"/>
                </a:solidFill>
                <a:effectLst/>
                <a:uFillTx/>
                <a:latin typeface="Times New Roman"/>
              </a:defRPr>
            </a:lvl1pPr>
          </a:lstStyle>
          <a:p>
            <a:pPr indent="0" algn="l">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s-ES" sz="1400" b="0" u="none" strike="noStrike">
                <a:solidFill>
                  <a:srgbClr val="000000"/>
                </a:solidFill>
                <a:effectLst/>
                <a:uFillTx/>
                <a:latin typeface="Times New Roman"/>
              </a:defRPr>
            </a:lvl1pPr>
          </a:lstStyle>
          <a:p>
            <a:pPr indent="0" algn="r">
              <a:buNone/>
            </a:pPr>
            <a:fld id="{0184516C-367C-469F-8AF9-E9BD80DF8091}" type="slidenum">
              <a:rPr lang="es-ES" sz="1400" b="0" u="none" strike="noStrike">
                <a:solidFill>
                  <a:srgbClr val="000000"/>
                </a:solidFill>
                <a:effectLst/>
                <a:uFillTx/>
                <a:latin typeface="Times New Roman"/>
              </a:rPr>
              <a:t>&lt;número&gt;</a:t>
            </a:fld>
            <a:endParaRPr lang="es-E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sldImg"/>
          </p:nvPr>
        </p:nvSpPr>
        <p:spPr>
          <a:xfrm>
            <a:off x="1143000" y="685800"/>
            <a:ext cx="4571640" cy="3428640"/>
          </a:xfrm>
          <a:prstGeom prst="rect">
            <a:avLst/>
          </a:prstGeom>
          <a:ln w="0">
            <a:noFill/>
          </a:ln>
        </p:spPr>
      </p:sp>
      <p:sp>
        <p:nvSpPr>
          <p:cNvPr id="44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30 s. Saludo al tribunal, presentacion personal breve y titulo del TFG. Frase puente: 'Voy a presentar Open CVN, una arquitectura computacional abierta para representar, validar, transformar y exportar curriculos academicos tomando CVN como referencia.' Recordar en voz baja el guion propio: objetivos, metodologia, contenido y conclusiones, en 25 minutos.</a:t>
            </a:r>
            <a:endParaRPr lang="es-ES" sz="2000" b="0" u="none" strike="noStrike">
              <a:solidFill>
                <a:srgbClr val="000000"/>
              </a:solidFill>
              <a:effectLst/>
              <a:uFillTx/>
              <a:latin typeface="Arial"/>
            </a:endParaRPr>
          </a:p>
        </p:txBody>
      </p:sp>
      <p:sp>
        <p:nvSpPr>
          <p:cNvPr id="447"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B4ABE69-16DB-4529-94ED-5934C8B4E4EA}"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8" name="PlaceHolder 1"/>
          <p:cNvSpPr>
            <a:spLocks noGrp="1"/>
          </p:cNvSpPr>
          <p:nvPr>
            <p:ph type="sldImg"/>
          </p:nvPr>
        </p:nvSpPr>
        <p:spPr>
          <a:xfrm>
            <a:off x="1143000" y="685800"/>
            <a:ext cx="4571640" cy="3428640"/>
          </a:xfrm>
          <a:prstGeom prst="rect">
            <a:avLst/>
          </a:prstGeom>
          <a:ln w="0">
            <a:noFill/>
          </a:ln>
        </p:spPr>
      </p:sp>
      <p:sp>
        <p:nvSpPr>
          <p:cNvPr id="44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40 s. Recorrer el indice en voz alta rapidamente, sin detenerse en cada punto. Insistir en que la estructura sigue lo que exige la normativa: objetivos, metodologia, contenido y conclusiones.</a:t>
            </a:r>
            <a:endParaRPr lang="es-ES" sz="2000" b="0" u="none" strike="noStrike">
              <a:solidFill>
                <a:srgbClr val="000000"/>
              </a:solidFill>
              <a:effectLst/>
              <a:uFillTx/>
              <a:latin typeface="Arial"/>
            </a:endParaRPr>
          </a:p>
        </p:txBody>
      </p:sp>
      <p:sp>
        <p:nvSpPr>
          <p:cNvPr id="450"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155C64-5380-416B-B07F-05BE682A737E}"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sldImg"/>
          </p:nvPr>
        </p:nvSpPr>
        <p:spPr>
          <a:xfrm>
            <a:off x="1143000" y="685800"/>
            <a:ext cx="4571640" cy="3428640"/>
          </a:xfrm>
          <a:prstGeom prst="rect">
            <a:avLst/>
          </a:prstGeom>
          <a:ln w="0">
            <a:noFill/>
          </a:ln>
        </p:spPr>
      </p:sp>
      <p:sp>
        <p:nvSpPr>
          <p:cNvPr id="45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Explicar que CVN (FECYT) normaliza la presentacion curricular en Espana, pero que la automatizacion real sigue siendo costosa: actualizar, adaptar y reutilizar un curriculo exige trabajo manual. Esta es la motivacion de partida del TFG, antes de entrar en como funciona CVN por dentro.</a:t>
            </a:r>
            <a:endParaRPr lang="es-ES" sz="2000" b="0" u="none" strike="noStrike">
              <a:solidFill>
                <a:srgbClr val="000000"/>
              </a:solidFill>
              <a:effectLst/>
              <a:uFillTx/>
              <a:latin typeface="Arial"/>
            </a:endParaRPr>
          </a:p>
        </p:txBody>
      </p:sp>
      <p:sp>
        <p:nvSpPr>
          <p:cNvPr id="453"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1677EDF-37DC-477E-A76B-B584A38539EE}"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PlaceHolder 1"/>
          <p:cNvSpPr>
            <a:spLocks noGrp="1"/>
          </p:cNvSpPr>
          <p:nvPr>
            <p:ph type="sldImg"/>
          </p:nvPr>
        </p:nvSpPr>
        <p:spPr>
          <a:xfrm>
            <a:off x="1143000" y="685800"/>
            <a:ext cx="4571640" cy="3428640"/>
          </a:xfrm>
          <a:prstGeom prst="rect">
            <a:avLst/>
          </a:prstGeom>
          <a:ln w="0">
            <a:noFill/>
          </a:ln>
        </p:spPr>
      </p:sp>
      <p:sp>
        <p:nvSpPr>
          <p:cNvPr id="45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100 s. Sin entrar en estado del arte: solo explicar en que se basa CVN. Mostrar las cuatro capas del paquete oficial (manual PDF, manual XML, modelo en arbol, XSD) mas las tres familias auxiliares (entidades, tablas de referencia/subtipos, tesauro). Idea clave: CVN es un ecosistema de artefactos oficiales, XML es el mecanismo de representacion, no el unico objeto del trabajo.</a:t>
            </a:r>
            <a:endParaRPr lang="es-ES" sz="2000" b="0" u="none" strike="noStrike">
              <a:solidFill>
                <a:srgbClr val="000000"/>
              </a:solidFill>
              <a:effectLst/>
              <a:uFillTx/>
              <a:latin typeface="Arial"/>
            </a:endParaRPr>
          </a:p>
        </p:txBody>
      </p:sp>
      <p:sp>
        <p:nvSpPr>
          <p:cNvPr id="456"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A3290DA-F8C1-481D-8A48-6BBD7E4B38FB}"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sldImg"/>
          </p:nvPr>
        </p:nvSpPr>
        <p:spPr>
          <a:xfrm>
            <a:off x="1143000" y="685800"/>
            <a:ext cx="4571640" cy="3428640"/>
          </a:xfrm>
          <a:prstGeom prst="rect">
            <a:avLst/>
          </a:prstGeom>
          <a:ln w="0">
            <a:noFill/>
          </a:ln>
        </p:spPr>
      </p:sp>
      <p:sp>
        <p:nvSpPr>
          <p:cNvPr id="45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100 s. Leer el objetivo general con calma (esa frase es la columna vertebral de toda la defensa, volvera en conclusiones). Despues recorrer los 4 bloques de objetivos especificos sin detenerse en cada OE individual; mencionar que se retomaran uno a uno en las conclusiones con su grado de cumplimiento.</a:t>
            </a:r>
            <a:endParaRPr lang="es-ES" sz="2000" b="0" u="none" strike="noStrike">
              <a:solidFill>
                <a:srgbClr val="000000"/>
              </a:solidFill>
              <a:effectLst/>
              <a:uFillTx/>
              <a:latin typeface="Arial"/>
            </a:endParaRPr>
          </a:p>
        </p:txBody>
      </p:sp>
      <p:sp>
        <p:nvSpPr>
          <p:cNvPr id="459"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EE54A59-AA93-41F6-85FD-73E380C47E54}"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PlaceHolder 1"/>
          <p:cNvSpPr>
            <a:spLocks noGrp="1"/>
          </p:cNvSpPr>
          <p:nvPr>
            <p:ph type="sldImg"/>
          </p:nvPr>
        </p:nvSpPr>
        <p:spPr>
          <a:xfrm>
            <a:off x="1143000" y="685800"/>
            <a:ext cx="4571640" cy="3428640"/>
          </a:xfrm>
          <a:prstGeom prst="rect">
            <a:avLst/>
          </a:prstGeom>
          <a:ln w="0">
            <a:noFill/>
          </a:ln>
        </p:spPr>
      </p:sp>
      <p:sp>
        <p:nvSpPr>
          <p:cNvPr id="46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Mostrar evidencia tecnica concreta sin dramatizar: son cuatro tipos de limitacion detectados al analizar el paquete oficial, cada una con una respuesta de diseno ya en Open CVN. Cerrar dejando claro que CVN sigue siendo valido para su proposito original de interoperabilidad documental.</a:t>
            </a:r>
            <a:endParaRPr lang="es-ES" sz="2000" b="0" u="none" strike="noStrike">
              <a:solidFill>
                <a:srgbClr val="000000"/>
              </a:solidFill>
              <a:effectLst/>
              <a:uFillTx/>
              <a:latin typeface="Arial"/>
            </a:endParaRPr>
          </a:p>
        </p:txBody>
      </p:sp>
      <p:sp>
        <p:nvSpPr>
          <p:cNvPr id="462"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52FE94B-967C-4521-933A-3D58C8C03A4B}"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sldImg"/>
          </p:nvPr>
        </p:nvSpPr>
        <p:spPr>
          <a:xfrm>
            <a:off x="1143000" y="685800"/>
            <a:ext cx="4571640" cy="3428640"/>
          </a:xfrm>
          <a:prstGeom prst="rect">
            <a:avLst/>
          </a:prstGeom>
          <a:ln w="0">
            <a:noFill/>
          </a:ln>
        </p:spPr>
      </p:sp>
      <p:sp>
        <p:nvSpPr>
          <p:cNvPr id="46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80 s. Presentar la figura de separacion entre CVN y Open CVN: el paquete oficial no se copia como modelo interno, se transforma de forma trazable en metadatos normalizados, luego politica semantica, luego modelo conceptual y finalmente el formato Open CVN JSON. Esta diapositiva es el puente hacia metodologia y arquitectura.</a:t>
            </a:r>
            <a:endParaRPr lang="es-ES" sz="2000" b="0" u="none" strike="noStrike">
              <a:solidFill>
                <a:srgbClr val="000000"/>
              </a:solidFill>
              <a:effectLst/>
              <a:uFillTx/>
              <a:latin typeface="Arial"/>
            </a:endParaRPr>
          </a:p>
        </p:txBody>
      </p:sp>
      <p:sp>
        <p:nvSpPr>
          <p:cNvPr id="465"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54B62CD-B733-48AC-8FF1-0B0101A081FE}"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6" name="PlaceHolder 1"/>
          <p:cNvSpPr>
            <a:spLocks noGrp="1"/>
          </p:cNvSpPr>
          <p:nvPr>
            <p:ph type="sldImg"/>
          </p:nvPr>
        </p:nvSpPr>
        <p:spPr>
          <a:xfrm>
            <a:off x="1143000" y="685800"/>
            <a:ext cx="4571640" cy="3428640"/>
          </a:xfrm>
          <a:prstGeom prst="rect">
            <a:avLst/>
          </a:prstGeom>
          <a:ln w="0">
            <a:noFill/>
          </a:ln>
        </p:spPr>
      </p:sp>
      <p:sp>
        <p:nvSpPr>
          <p:cNvPr id="46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El proceso no fue un desarrollo de producto con sprints: cinco fases (analisis, exploracion de artefactos, diseno incremental, implementacion reproducible, verificacion) con documentacion continua de decisiones y limitaciones como criterio transversal. Repasar brevemente las herramientas clave: Python/uv, xsdata, Pydantic, JSON Schema, SQLite, Jinja, pytest, Git/GitHub Actions.</a:t>
            </a:r>
            <a:endParaRPr lang="es-ES" sz="2000" b="0" u="none" strike="noStrike">
              <a:solidFill>
                <a:srgbClr val="000000"/>
              </a:solidFill>
              <a:effectLst/>
              <a:uFillTx/>
              <a:latin typeface="Arial"/>
            </a:endParaRPr>
          </a:p>
        </p:txBody>
      </p:sp>
      <p:sp>
        <p:nvSpPr>
          <p:cNvPr id="468"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39E7A72-6001-4DB0-B714-E23ABA9B78F2}"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sldImg"/>
          </p:nvPr>
        </p:nvSpPr>
        <p:spPr>
          <a:xfrm>
            <a:off x="1143000" y="685800"/>
            <a:ext cx="4571640" cy="3428640"/>
          </a:xfrm>
          <a:prstGeom prst="rect">
            <a:avLst/>
          </a:prstGeom>
          <a:ln w="0">
            <a:noFill/>
          </a:ln>
        </p:spPr>
      </p:sp>
      <p:sp>
        <p:nvSpPr>
          <p:cNvPr id="47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Mostrar la figura de arquitectura por capas y explicar los cuatro bloques: fuente CVN (frontera externa), generacion y normalizacion (bindings + metadatos + politica semantica), dominio/modelo conceptual/formato, y herramienta local. Cada bloque corresponde a un modulo real del repositorio; el detalle de implementacion vendra en la siguiente diapositiva.</a:t>
            </a:r>
            <a:endParaRPr lang="es-ES" sz="2000" b="0" u="none" strike="noStrike">
              <a:solidFill>
                <a:srgbClr val="000000"/>
              </a:solidFill>
              <a:effectLst/>
              <a:uFillTx/>
              <a:latin typeface="Arial"/>
            </a:endParaRPr>
          </a:p>
        </p:txBody>
      </p:sp>
      <p:sp>
        <p:nvSpPr>
          <p:cNvPr id="471"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C22A0BE-2087-4B94-B3AB-E4FA1AFA29DE}"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2" name="PlaceHolder 1"/>
          <p:cNvSpPr>
            <a:spLocks noGrp="1"/>
          </p:cNvSpPr>
          <p:nvPr>
            <p:ph type="sldImg"/>
          </p:nvPr>
        </p:nvSpPr>
        <p:spPr>
          <a:xfrm>
            <a:off x="1143000" y="685800"/>
            <a:ext cx="4571640" cy="3428640"/>
          </a:xfrm>
          <a:prstGeom prst="rect">
            <a:avLst/>
          </a:prstGeom>
          <a:ln w="0">
            <a:noFill/>
          </a:ln>
        </p:spPr>
      </p:sp>
      <p:sp>
        <p:nvSpPr>
          <p:cNvPr id="4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100 s. Explicar las cuatro etapas del segundo bloque de la arquitectura: generacion estructural, normalizacion por codigo CVN, resolucion de referencias auxiliares y politica semantica. Insistir en que el codigo generado nunca se edita a mano: la limpieza semantica ocurre en capas posteriores.</a:t>
            </a:r>
            <a:endParaRPr lang="es-ES" sz="2000" b="0" u="none" strike="noStrike">
              <a:solidFill>
                <a:srgbClr val="000000"/>
              </a:solidFill>
              <a:effectLst/>
              <a:uFillTx/>
              <a:latin typeface="Arial"/>
            </a:endParaRPr>
          </a:p>
        </p:txBody>
      </p:sp>
      <p:sp>
        <p:nvSpPr>
          <p:cNvPr id="474"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E41DD63-076B-43C1-AEE2-C67FCDFA746B}"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sldImg"/>
          </p:nvPr>
        </p:nvSpPr>
        <p:spPr>
          <a:xfrm>
            <a:off x="1143000" y="685800"/>
            <a:ext cx="4571640" cy="3428640"/>
          </a:xfrm>
          <a:prstGeom prst="rect">
            <a:avLst/>
          </a:prstGeom>
          <a:ln w="0">
            <a:noFill/>
          </a:ln>
        </p:spPr>
      </p:sp>
      <p:sp>
        <p:nvSpPr>
          <p:cNvPr id="4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80 s. Dar las cifras ya verificadas: 1457 entradas normalizadas, 1429 en ambas fuentes, 557 con tabla de referencia declarada, 33 discrepancias, 1 referencia no resuelta (CVN_AGENCY_C). El mensaje es que cada resolucion se apoya en evidencia concreta del paquete, no en suposiciones.</a:t>
            </a:r>
            <a:endParaRPr lang="es-ES" sz="2000" b="0" u="none" strike="noStrike">
              <a:solidFill>
                <a:srgbClr val="000000"/>
              </a:solidFill>
              <a:effectLst/>
              <a:uFillTx/>
              <a:latin typeface="Arial"/>
            </a:endParaRPr>
          </a:p>
        </p:txBody>
      </p:sp>
      <p:sp>
        <p:nvSpPr>
          <p:cNvPr id="477"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819ABFD-850E-4679-A28F-4BE534B71F23}"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ldImg"/>
          </p:nvPr>
        </p:nvSpPr>
        <p:spPr>
          <a:xfrm>
            <a:off x="1143000" y="685800"/>
            <a:ext cx="4571640" cy="3428640"/>
          </a:xfrm>
          <a:prstGeom prst="rect">
            <a:avLst/>
          </a:prstGeom>
          <a:ln w="0">
            <a:noFill/>
          </a:ln>
        </p:spPr>
      </p:sp>
      <p:sp>
        <p:nvSpPr>
          <p:cNvPr id="4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Enumerar rapido las nueve formas semanticas reconocidas. Detenerse en el ejemplo del campo de sexo (CVN_SEX_A): enumeracion cerrada con dos valores, el ejemplo mas simple, usado como hilo conductor en la memoria desde normalizacion hasta el JSON final.</a:t>
            </a:r>
            <a:endParaRPr lang="es-ES" sz="2000" b="0" u="none" strike="noStrike">
              <a:solidFill>
                <a:srgbClr val="000000"/>
              </a:solidFill>
              <a:effectLst/>
              <a:uFillTx/>
              <a:latin typeface="Arial"/>
            </a:endParaRPr>
          </a:p>
        </p:txBody>
      </p:sp>
      <p:sp>
        <p:nvSpPr>
          <p:cNvPr id="480"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6C77112-9CFB-48C8-B377-8A0D1C591BB3}"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type="sldImg"/>
          </p:nvPr>
        </p:nvSpPr>
        <p:spPr>
          <a:xfrm>
            <a:off x="1143000" y="685800"/>
            <a:ext cx="4571640" cy="3428640"/>
          </a:xfrm>
          <a:prstGeom prst="rect">
            <a:avLst/>
          </a:prstGeom>
          <a:ln w="0">
            <a:noFill/>
          </a:ln>
        </p:spPr>
      </p:sp>
      <p:sp>
        <p:nvSpPr>
          <p:cNvPr id="4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Explicar que esta etapa produce dos artefactos distintos: los modelos de dominio en Pydantic (105 archivos) y, por separado, el modelo conceptual agnostico que ya no vuelve a leer XML/XSD. Mostrar la vista UML compacta como el puente hacia el JSON Schema (182 definiciones, 74 vocabularios controlados).</a:t>
            </a:r>
            <a:endParaRPr lang="es-ES" sz="2000" b="0" u="none" strike="noStrike">
              <a:solidFill>
                <a:srgbClr val="000000"/>
              </a:solidFill>
              <a:effectLst/>
              <a:uFillTx/>
              <a:latin typeface="Arial"/>
            </a:endParaRPr>
          </a:p>
        </p:txBody>
      </p:sp>
      <p:sp>
        <p:nvSpPr>
          <p:cNvPr id="483"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2A726B-F96D-4C53-BDFD-EC4DCAC028E4}"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type="sldImg"/>
          </p:nvPr>
        </p:nvSpPr>
        <p:spPr>
          <a:xfrm>
            <a:off x="1143000" y="685800"/>
            <a:ext cx="4571640" cy="3428640"/>
          </a:xfrm>
          <a:prstGeom prst="rect">
            <a:avLst/>
          </a:prstGeom>
          <a:ln w="0">
            <a:noFill/>
          </a:ln>
        </p:spPr>
      </p:sp>
      <p:sp>
        <p:nvSpPr>
          <p:cNvPr id="4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Mostrar la estructura raiz minima: cuatro campos (schema_version, metadata, curriculum, extensions). Explicar que curriculum se organiza por area conceptual (identity, education, research, professional experience, achievements, other) y no por estructura XML. Mencionar la forma comun de las referencias controladas, reutilizando el ejemplo de sexo ya visto.</a:t>
            </a:r>
            <a:endParaRPr lang="es-ES" sz="2000" b="0" u="none" strike="noStrike">
              <a:solidFill>
                <a:srgbClr val="000000"/>
              </a:solidFill>
              <a:effectLst/>
              <a:uFillTx/>
              <a:latin typeface="Arial"/>
            </a:endParaRPr>
          </a:p>
        </p:txBody>
      </p:sp>
      <p:sp>
        <p:nvSpPr>
          <p:cNvPr id="486"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953E54-FD02-4E45-9F55-2DAFA3077AF5}"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sldImg"/>
          </p:nvPr>
        </p:nvSpPr>
        <p:spPr>
          <a:xfrm>
            <a:off x="1143000" y="685800"/>
            <a:ext cx="4571640" cy="3428640"/>
          </a:xfrm>
          <a:prstGeom prst="rect">
            <a:avLst/>
          </a:prstGeom>
          <a:ln w="0">
            <a:noFill/>
          </a:ln>
        </p:spPr>
      </p:sp>
      <p:sp>
        <p:nvSpPr>
          <p:cNvPr id="4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El contrato publico expone cuatro funciones (leer, validar, importar XML, importar PDF) que devuelven siempre la misma estructura de resultado, con cinco estados posibles. Explicar por que existe 'valido con avisos': para senializar casos semanticamente atipicos sin bloquear el documento. Recorrer brevemente el diagrama de flujo de importacion/validacion.</a:t>
            </a:r>
            <a:endParaRPr lang="es-ES" sz="2000" b="0" u="none" strike="noStrike">
              <a:solidFill>
                <a:srgbClr val="000000"/>
              </a:solidFill>
              <a:effectLst/>
              <a:uFillTx/>
              <a:latin typeface="Arial"/>
            </a:endParaRPr>
          </a:p>
        </p:txBody>
      </p:sp>
      <p:sp>
        <p:nvSpPr>
          <p:cNvPr id="489"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A102D47-375C-4789-BCFD-126B1B7EDED2}"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PlaceHolder 1"/>
          <p:cNvSpPr>
            <a:spLocks noGrp="1"/>
          </p:cNvSpPr>
          <p:nvPr>
            <p:ph type="sldImg"/>
          </p:nvPr>
        </p:nvSpPr>
        <p:spPr>
          <a:xfrm>
            <a:off x="1143000" y="685800"/>
            <a:ext cx="4571640" cy="3428640"/>
          </a:xfrm>
          <a:prstGeom prst="rect">
            <a:avLst/>
          </a:prstGeom>
          <a:ln w="0">
            <a:noFill/>
          </a:ln>
        </p:spPr>
      </p:sp>
      <p:sp>
        <p:nvSpPr>
          <p:cNvPr id="4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100 s. Explicar los tres caminos de importacion en orden de prioridad: JSON directo, XML con mapeo parcial, PDF con extraccion determinista y LLM opcional solo como ultimo recurso autorizado y validado despues. Despues presentar la herramienta local: modelo maestro / version derivada y los comandos principales de la CLI.</a:t>
            </a:r>
            <a:endParaRPr lang="es-ES" sz="2000" b="0" u="none" strike="noStrike">
              <a:solidFill>
                <a:srgbClr val="000000"/>
              </a:solidFill>
              <a:effectLst/>
              <a:uFillTx/>
              <a:latin typeface="Arial"/>
            </a:endParaRPr>
          </a:p>
        </p:txBody>
      </p:sp>
      <p:sp>
        <p:nvSpPr>
          <p:cNvPr id="492"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707AB7E-2818-4A71-913C-1028EF958B3C}"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sldImg"/>
          </p:nvPr>
        </p:nvSpPr>
        <p:spPr>
          <a:xfrm>
            <a:off x="1143000" y="685800"/>
            <a:ext cx="4571640" cy="3428640"/>
          </a:xfrm>
          <a:prstGeom prst="rect">
            <a:avLst/>
          </a:prstGeom>
          <a:ln w="0">
            <a:noFill/>
          </a:ln>
        </p:spPr>
      </p:sp>
      <p:sp>
        <p:nvSpPr>
          <p:cNvPr id="4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100 s. Presentar el resultado central de la evaluacion: 488 pruebas, 8 niveles alineados con la arquitectura, 0 fallos, 692,80 segundos en paralelo. Un unico comando ejecuta todo, tanto en local como en CI. Este es el dato que sostiene todas las afirmaciones tecnicas anteriores.</a:t>
            </a:r>
            <a:endParaRPr lang="es-ES" sz="2000" b="0" u="none" strike="noStrike">
              <a:solidFill>
                <a:srgbClr val="000000"/>
              </a:solidFill>
              <a:effectLst/>
              <a:uFillTx/>
              <a:latin typeface="Arial"/>
            </a:endParaRPr>
          </a:p>
        </p:txBody>
      </p:sp>
      <p:sp>
        <p:nvSpPr>
          <p:cNvPr id="495"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7EE83A4-BBED-4FF9-9CC2-4DE6BBBB94D4}"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1143000" y="685800"/>
            <a:ext cx="4571640" cy="3428640"/>
          </a:xfrm>
          <a:prstGeom prst="rect">
            <a:avLst/>
          </a:prstGeom>
          <a:ln w="0">
            <a:noFill/>
          </a:ln>
        </p:spPr>
      </p:sp>
      <p:sp>
        <p:nvSpPr>
          <p:cNvPr id="4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Distinguir con precision: garantias fuertes donde el proceso es determinista (generacion, normalizacion, politica semantica, validacion Open CVN JSON) frente a garantias parciales y documentadas (importacion XML, importacion LLM, generacion PDF). Es el momento de dejar clara la honestidad tecnica del trabajo antes de pasar a conclusiones.</a:t>
            </a:r>
            <a:endParaRPr lang="es-ES" sz="2000" b="0" u="none" strike="noStrike">
              <a:solidFill>
                <a:srgbClr val="000000"/>
              </a:solidFill>
              <a:effectLst/>
              <a:uFillTx/>
              <a:latin typeface="Arial"/>
            </a:endParaRPr>
          </a:p>
        </p:txBody>
      </p:sp>
      <p:sp>
        <p:nvSpPr>
          <p:cNvPr id="498"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A00630D-5E81-4DD9-B539-889108ADCD84}"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ldImg"/>
          </p:nvPr>
        </p:nvSpPr>
        <p:spPr>
          <a:xfrm>
            <a:off x="1143000" y="685800"/>
            <a:ext cx="4571640" cy="3428640"/>
          </a:xfrm>
          <a:prstGeom prst="rect">
            <a:avLst/>
          </a:prstGeom>
          <a:ln w="0">
            <a:noFill/>
          </a:ln>
        </p:spPr>
      </p:sp>
      <p:sp>
        <p:nvSpPr>
          <p:cNvPr id="5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Retomar los diez objetivos especificos del capitulo 1 en el mismo orden. Nueve se dan por cumplidos de forma determinista; OE9 (importacion) se cumple con garantias parciales de forma deliberada: la importacion asistida por LLM es opcional y no autoritativa sin revision, una decision de diseno, no una carencia.</a:t>
            </a:r>
            <a:endParaRPr lang="es-ES" sz="2000" b="0" u="none" strike="noStrike">
              <a:solidFill>
                <a:srgbClr val="000000"/>
              </a:solidFill>
              <a:effectLst/>
              <a:uFillTx/>
              <a:latin typeface="Arial"/>
            </a:endParaRPr>
          </a:p>
        </p:txBody>
      </p:sp>
      <p:sp>
        <p:nvSpPr>
          <p:cNvPr id="501"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40FE51C-348F-4A1A-88B1-40930F211E15}"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sldImg"/>
          </p:nvPr>
        </p:nvSpPr>
        <p:spPr>
          <a:xfrm>
            <a:off x="1143000" y="685800"/>
            <a:ext cx="4571640" cy="3428640"/>
          </a:xfrm>
          <a:prstGeom prst="rect">
            <a:avLst/>
          </a:prstGeom>
          <a:ln w="0">
            <a:noFill/>
          </a:ln>
        </p:spPr>
      </p:sp>
      <p:sp>
        <p:nvSpPr>
          <p:cNvPr id="5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70 s. Enumerar las siete contribuciones con ritmo, sin detenerse en cada una: analisis del ecosistema CVN, arquitectura reproducible por capas, trazabilidad CVN-Open CVN, formato JSON, herramientas de validacion, importacion determinista/LLM y verificacion automatizada. Recordar que ninguna sustituye al ecosistema CVN oficial: lo complementan.</a:t>
            </a:r>
            <a:endParaRPr lang="es-ES" sz="2000" b="0" u="none" strike="noStrike">
              <a:solidFill>
                <a:srgbClr val="000000"/>
              </a:solidFill>
              <a:effectLst/>
              <a:uFillTx/>
              <a:latin typeface="Arial"/>
            </a:endParaRPr>
          </a:p>
        </p:txBody>
      </p:sp>
      <p:sp>
        <p:nvSpPr>
          <p:cNvPr id="504"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50946C0-BA9C-4653-9C21-15C5DC7239DA}"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5" name="PlaceHolder 1"/>
          <p:cNvSpPr>
            <a:spLocks noGrp="1"/>
          </p:cNvSpPr>
          <p:nvPr>
            <p:ph type="sldImg"/>
          </p:nvPr>
        </p:nvSpPr>
        <p:spPr>
          <a:xfrm>
            <a:off x="1143000" y="685800"/>
            <a:ext cx="4571640" cy="3428640"/>
          </a:xfrm>
          <a:prstGeom prst="rect">
            <a:avLst/>
          </a:prstGeom>
          <a:ln w="0">
            <a:noFill/>
          </a:ln>
        </p:spPr>
      </p:sp>
      <p:sp>
        <p:nvSpPr>
          <p:cNvPr id="5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Duracion objetivo: 90 s. Cerrar con la conclusion central: la arquitectura por capas, no el JSON ni la herramienta, es la aportacion principal. Las limitaciones no comprometen esta conclusion: unas vienen del propio paquete CVN, otras son decisiones deliberadas de alcance de un TFG. Repasar rapido las cinco lineas futuras sin extenderse, dejando tiempo para preguntas.</a:t>
            </a:r>
            <a:endParaRPr lang="es-ES" sz="2000" b="0" u="none" strike="noStrike">
              <a:solidFill>
                <a:srgbClr val="000000"/>
              </a:solidFill>
              <a:effectLst/>
              <a:uFillTx/>
              <a:latin typeface="Arial"/>
            </a:endParaRPr>
          </a:p>
        </p:txBody>
      </p:sp>
      <p:sp>
        <p:nvSpPr>
          <p:cNvPr id="507"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AA53DF-AEEC-4BE5-97FF-59FBB69F0764}"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sldImg"/>
          </p:nvPr>
        </p:nvSpPr>
        <p:spPr>
          <a:xfrm>
            <a:off x="1143000" y="685800"/>
            <a:ext cx="4571640" cy="3428640"/>
          </a:xfrm>
          <a:prstGeom prst="rect">
            <a:avLst/>
          </a:prstGeom>
          <a:ln w="0">
            <a:noFill/>
          </a:ln>
        </p:spPr>
      </p:sp>
      <p:sp>
        <p:nvSpPr>
          <p:cNvPr id="5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s-ES" sz="2000" b="0" u="none" strike="noStrike">
                <a:solidFill>
                  <a:srgbClr val="000000"/>
                </a:solidFill>
                <a:effectLst/>
                <a:uFillTx/>
                <a:latin typeface="Arial"/>
              </a:rPr>
              <a:t>Cierre: agradecer al tribunal, indicar explicitamente que se abre el turno de preguntas segun la normativa (exponer objetivos, metodologia, contenido y conclusiones; despues, preguntas del tribunal). Mantener la calma, escuchar la pregunta completa antes de responder, y si hace falta pedir que se repita o aclare sin problema.</a:t>
            </a:r>
            <a:endParaRPr lang="es-ES" sz="2000" b="0" u="none" strike="noStrike">
              <a:solidFill>
                <a:srgbClr val="000000"/>
              </a:solidFill>
              <a:effectLst/>
              <a:uFillTx/>
              <a:latin typeface="Arial"/>
            </a:endParaRPr>
          </a:p>
        </p:txBody>
      </p:sp>
      <p:sp>
        <p:nvSpPr>
          <p:cNvPr id="510"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A9D834C-6E9B-4AA8-AA43-515CB227416D}" type="slidenum">
              <a:rPr lang="en-US" sz="1200" b="0" u="none" strike="noStrike">
                <a:solidFill>
                  <a:srgbClr val="000000"/>
                </a:solidFill>
                <a:effectLst/>
                <a:uFillTx/>
                <a:latin typeface="Times New Roman"/>
              </a:rPr>
              <a:t>&lt;número&gt;</a:t>
            </a:fld>
            <a:endParaRPr lang="es-E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67DD4BC-C28B-428E-89BB-190E5D539F2A}"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a:t>
            </a:r>
            <a:r>
              <a:rPr lang="en-US" sz="4400" b="0" u="none" strike="noStrike">
                <a:solidFill>
                  <a:schemeClr val="dk1"/>
                </a:solidFill>
                <a:effectLst/>
                <a:uFillTx/>
                <a:latin typeface="Calibri"/>
              </a:rPr>
              <a:t>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ast</a:t>
            </a:r>
            <a:r>
              <a:rPr lang="en-US" sz="4400" b="0" u="none" strike="noStrike">
                <a:solidFill>
                  <a:schemeClr val="dk1"/>
                </a:solidFill>
                <a:effectLst/>
                <a:uFillTx/>
                <a:latin typeface="Calibri"/>
              </a:rPr>
              <a:t>er </a:t>
            </a:r>
            <a:r>
              <a:rPr lang="en-US" sz="4400" b="0" u="none" strike="noStrike">
                <a:solidFill>
                  <a:schemeClr val="dk1"/>
                </a:solidFill>
                <a:effectLst/>
                <a:uFillTx/>
                <a:latin typeface="Calibri"/>
              </a:rPr>
              <a:t>titl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sty</a:t>
            </a:r>
            <a:r>
              <a:rPr lang="en-US" sz="4400" b="0" u="none" strike="noStrike">
                <a:solidFill>
                  <a:schemeClr val="dk1"/>
                </a:solidFill>
                <a:effectLst/>
                <a:uFillTx/>
                <a:latin typeface="Calibri"/>
              </a:rPr>
              <a:t>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199E550-67AE-4BD3-A005-F94070F45269}"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li</a:t>
            </a: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k </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o </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d</a:t>
            </a:r>
            <a:r>
              <a:rPr lang="en-US" sz="4400" b="0" u="none" strike="noStrike">
                <a:solidFill>
                  <a:schemeClr val="dk1"/>
                </a:solidFill>
                <a:effectLst/>
                <a:uFillTx/>
                <a:latin typeface="Calibri"/>
              </a:rPr>
              <a:t>it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r </a:t>
            </a:r>
            <a:r>
              <a:rPr lang="en-US" sz="4400" b="0" u="none" strike="noStrike">
                <a:solidFill>
                  <a:schemeClr val="dk1"/>
                </a:solidFill>
                <a:effectLst/>
                <a:uFillTx/>
                <a:latin typeface="Calibri"/>
              </a:rPr>
              <a:t>ti</a:t>
            </a:r>
            <a:r>
              <a:rPr lang="en-US" sz="4400" b="0" u="none" strike="noStrike">
                <a:solidFill>
                  <a:schemeClr val="dk1"/>
                </a:solidFill>
                <a:effectLst/>
                <a:uFillTx/>
                <a:latin typeface="Calibri"/>
              </a:rPr>
              <a:t>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y</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3D4CE89-4634-46A1-B554-CF33C8E759C6}"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a:t>
            </a:r>
            <a:r>
              <a:rPr lang="en-US" sz="4400" b="0" u="none" strike="noStrike">
                <a:solidFill>
                  <a:schemeClr val="dk1"/>
                </a:solidFill>
                <a:effectLst/>
                <a:uFillTx/>
                <a:latin typeface="Calibri"/>
              </a:rPr>
              <a:t>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ast</a:t>
            </a:r>
            <a:r>
              <a:rPr lang="en-US" sz="4400" b="0" u="none" strike="noStrike">
                <a:solidFill>
                  <a:schemeClr val="dk1"/>
                </a:solidFill>
                <a:effectLst/>
                <a:uFillTx/>
                <a:latin typeface="Calibri"/>
              </a:rPr>
              <a:t>er </a:t>
            </a:r>
            <a:r>
              <a:rPr lang="en-US" sz="4400" b="0" u="none" strike="noStrike">
                <a:solidFill>
                  <a:schemeClr val="dk1"/>
                </a:solidFill>
                <a:effectLst/>
                <a:uFillTx/>
                <a:latin typeface="Calibri"/>
              </a:rPr>
              <a:t>titl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sty</a:t>
            </a:r>
            <a:r>
              <a:rPr lang="en-US" sz="4400" b="0" u="none" strike="noStrike">
                <a:solidFill>
                  <a:schemeClr val="dk1"/>
                </a:solidFill>
                <a:effectLst/>
                <a:uFillTx/>
                <a:latin typeface="Calibri"/>
              </a:rPr>
              <a:t>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DAA9D73-7ACD-49FE-B876-D2B3811F90A8}"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a:t>
            </a:r>
            <a:r>
              <a:rPr lang="en-US" sz="4000" b="1" u="none" strike="noStrike" cap="all">
                <a:solidFill>
                  <a:schemeClr val="dk1"/>
                </a:solidFill>
                <a:effectLst/>
                <a:uFillTx/>
                <a:latin typeface="Calibri"/>
              </a:rPr>
              <a:t>ck </a:t>
            </a:r>
            <a:r>
              <a:rPr lang="en-US" sz="4000" b="1" u="none" strike="noStrike" cap="all">
                <a:solidFill>
                  <a:schemeClr val="dk1"/>
                </a:solidFill>
                <a:effectLst/>
                <a:uFillTx/>
                <a:latin typeface="Calibri"/>
              </a:rPr>
              <a:t>to </a:t>
            </a:r>
            <a:r>
              <a:rPr lang="en-US" sz="4000" b="1" u="none" strike="noStrike" cap="all">
                <a:solidFill>
                  <a:schemeClr val="dk1"/>
                </a:solidFill>
                <a:effectLst/>
                <a:uFillTx/>
                <a:latin typeface="Calibri"/>
              </a:rPr>
              <a:t>edi</a:t>
            </a:r>
            <a:r>
              <a:rPr lang="en-US" sz="4000" b="1" u="none" strike="noStrike" cap="all">
                <a:solidFill>
                  <a:schemeClr val="dk1"/>
                </a:solidFill>
                <a:effectLst/>
                <a:uFillTx/>
                <a:latin typeface="Calibri"/>
              </a:rPr>
              <a:t>t </a:t>
            </a:r>
            <a:r>
              <a:rPr lang="en-US" sz="4000" b="1" u="none" strike="noStrike" cap="all">
                <a:solidFill>
                  <a:schemeClr val="dk1"/>
                </a:solidFill>
                <a:effectLst/>
                <a:uFillTx/>
                <a:latin typeface="Calibri"/>
              </a:rPr>
              <a:t>M</a:t>
            </a:r>
            <a:r>
              <a:rPr lang="en-US" sz="4000" b="1" u="none" strike="noStrike" cap="all">
                <a:solidFill>
                  <a:schemeClr val="dk1"/>
                </a:solidFill>
                <a:effectLst/>
                <a:uFillTx/>
                <a:latin typeface="Calibri"/>
              </a:rPr>
              <a:t>as</a:t>
            </a:r>
            <a:r>
              <a:rPr lang="en-US" sz="4000" b="1" u="none" strike="noStrike" cap="all">
                <a:solidFill>
                  <a:schemeClr val="dk1"/>
                </a:solidFill>
                <a:effectLst/>
                <a:uFillTx/>
                <a:latin typeface="Calibri"/>
              </a:rPr>
              <a:t>te</a:t>
            </a:r>
            <a:r>
              <a:rPr lang="en-US" sz="4000" b="1" u="none" strike="noStrike" cap="all">
                <a:solidFill>
                  <a:schemeClr val="dk1"/>
                </a:solidFill>
                <a:effectLst/>
                <a:uFillTx/>
                <a:latin typeface="Calibri"/>
              </a:rPr>
              <a:t>r </a:t>
            </a:r>
            <a:r>
              <a:rPr lang="en-US" sz="4000" b="1" u="none" strike="noStrike" cap="all">
                <a:solidFill>
                  <a:schemeClr val="dk1"/>
                </a:solidFill>
                <a:effectLst/>
                <a:uFillTx/>
                <a:latin typeface="Calibri"/>
              </a:rPr>
              <a:t>tit</a:t>
            </a:r>
            <a:r>
              <a:rPr lang="en-US" sz="4000" b="1" u="none" strike="noStrike" cap="all">
                <a:solidFill>
                  <a:schemeClr val="dk1"/>
                </a:solidFill>
                <a:effectLst/>
                <a:uFillTx/>
                <a:latin typeface="Calibri"/>
              </a:rPr>
              <a:t>le </a:t>
            </a:r>
            <a:r>
              <a:rPr lang="en-US" sz="4000" b="1" u="none" strike="noStrike" cap="all">
                <a:solidFill>
                  <a:schemeClr val="dk1"/>
                </a:solidFill>
                <a:effectLst/>
                <a:uFillTx/>
                <a:latin typeface="Calibri"/>
              </a:rPr>
              <a:t>st</a:t>
            </a:r>
            <a:r>
              <a:rPr lang="en-US" sz="4000" b="1" u="none" strike="noStrike" cap="all">
                <a:solidFill>
                  <a:schemeClr val="dk1"/>
                </a:solidFill>
                <a:effectLst/>
                <a:uFillTx/>
                <a:latin typeface="Calibri"/>
              </a:rPr>
              <a:t>yl</a:t>
            </a:r>
            <a:r>
              <a:rPr lang="en-US" sz="4000" b="1" u="none" strike="noStrike" cap="all">
                <a:solidFill>
                  <a:schemeClr val="dk1"/>
                </a:solidFill>
                <a:effectLst/>
                <a:uFillTx/>
                <a:latin typeface="Calibri"/>
              </a:rPr>
              <a:t>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AB05CA9-5445-4BAE-A5BD-31932CBCAE0F}"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4AEC7FA-8842-4F81-9459-937F53173627}"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2F1ADFC-42B4-4E8C-A655-AB89D9F0FF47}"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345316B-B255-4471-AFF9-75B7C8EEEBB1}"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96B40A6-A46F-4A85-AE2F-4CA2D3C05104}"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Pulse para editar el formato del texto de título</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Segundo nivel del esquema</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Tercer nivel del esquema</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Cuarto nivel del esquema</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Quinto nivel del esquema</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Sexto nivel del esquema</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Séptimo nivel del esquema</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3E384FB-F2FC-4604-A30B-BA000464A704}"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Segundo nivel del esquema</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Tercer nivel del esquema</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Cuarto nivel del esquema</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Quinto nivel del esquema</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Sexto nivel del esquema</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Séptimo nivel del esquema</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0D23C7-19D6-4F66-B981-42DDF6AA0EA3}"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9.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Rectangle 1"/>
          <p:cNvSpPr/>
          <p:nvPr/>
        </p:nvSpPr>
        <p:spPr>
          <a:xfrm>
            <a:off x="0" y="0"/>
            <a:ext cx="12191400" cy="6857640"/>
          </a:xfrm>
          <a:prstGeom prst="rect">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8" name="Rectangle 2"/>
          <p:cNvSpPr/>
          <p:nvPr/>
        </p:nvSpPr>
        <p:spPr>
          <a:xfrm>
            <a:off x="0" y="6199560"/>
            <a:ext cx="12191400" cy="18252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 name="Rectangle 3"/>
          <p:cNvSpPr/>
          <p:nvPr/>
        </p:nvSpPr>
        <p:spPr>
          <a:xfrm>
            <a:off x="0" y="6419160"/>
            <a:ext cx="8595000" cy="182520"/>
          </a:xfrm>
          <a:prstGeom prst="rect">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0" name="Rectangle 4"/>
          <p:cNvSpPr/>
          <p:nvPr/>
        </p:nvSpPr>
        <p:spPr>
          <a:xfrm>
            <a:off x="0" y="6638400"/>
            <a:ext cx="5120280" cy="182520"/>
          </a:xfrm>
          <a:prstGeom prst="rect">
            <a:avLst/>
          </a:prstGeom>
          <a:solidFill>
            <a:srgbClr val="E09A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1" name="TextBox 5"/>
          <p:cNvSpPr/>
          <p:nvPr/>
        </p:nvSpPr>
        <p:spPr>
          <a:xfrm>
            <a:off x="640080" y="567000"/>
            <a:ext cx="731484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E09A3E"/>
                </a:solidFill>
                <a:effectLst/>
                <a:uFillTx/>
                <a:latin typeface="Calibri"/>
              </a:rPr>
              <a:t>TRABAJO FIN DE GRADO · INTENSIFICACIÓN EN COMPUTACIÓN</a:t>
            </a:r>
            <a:endParaRPr lang="es-ES" sz="1250" b="0" u="none" strike="noStrike">
              <a:solidFill>
                <a:srgbClr val="000000"/>
              </a:solidFill>
              <a:effectLst/>
              <a:uFillTx/>
              <a:latin typeface="Arial"/>
            </a:endParaRPr>
          </a:p>
        </p:txBody>
      </p:sp>
      <p:sp>
        <p:nvSpPr>
          <p:cNvPr id="72" name="TextBox 6"/>
          <p:cNvSpPr/>
          <p:nvPr/>
        </p:nvSpPr>
        <p:spPr>
          <a:xfrm>
            <a:off x="640080" y="1234440"/>
            <a:ext cx="10606680" cy="2102760"/>
          </a:xfrm>
          <a:prstGeom prst="rect">
            <a:avLst/>
          </a:prstGeom>
          <a:noFill/>
          <a:ln w="0">
            <a:noFill/>
          </a:ln>
        </p:spPr>
        <p:style>
          <a:lnRef idx="0"/>
          <a:fillRef idx="0"/>
          <a:effectRef idx="0"/>
          <a:fontRef idx="minor"/>
        </p:style>
        <p:txBody>
          <a:bodyPr lIns="0" tIns="0" rIns="0" bIns="0" anchor="t">
            <a:spAutoFit/>
          </a:bodyPr>
          <a:p>
            <a:pPr defTabSz="457200">
              <a:lnSpc>
                <a:spcPct val="108000"/>
              </a:lnSpc>
            </a:pPr>
            <a:r>
              <a:rPr lang="en-US" sz="3000" b="1" u="none" strike="noStrike">
                <a:solidFill>
                  <a:srgbClr val="FFFFFF"/>
                </a:solidFill>
                <a:effectLst/>
                <a:uFillTx/>
                <a:latin typeface="Cambria"/>
              </a:rPr>
              <a:t>Especificación de formato y desarrollo de herramientas para el procesamiento de currículum vítae en el ámbito académico universitario</a:t>
            </a:r>
            <a:endParaRPr lang="es-ES" sz="3000" b="0" u="none" strike="noStrike">
              <a:solidFill>
                <a:srgbClr val="000000"/>
              </a:solidFill>
              <a:effectLst/>
              <a:uFillTx/>
              <a:latin typeface="Arial"/>
            </a:endParaRPr>
          </a:p>
        </p:txBody>
      </p:sp>
      <p:sp>
        <p:nvSpPr>
          <p:cNvPr id="73" name="TextBox 7"/>
          <p:cNvSpPr/>
          <p:nvPr/>
        </p:nvSpPr>
        <p:spPr>
          <a:xfrm>
            <a:off x="640080" y="3310200"/>
            <a:ext cx="10423800" cy="776880"/>
          </a:xfrm>
          <a:prstGeom prst="rect">
            <a:avLst/>
          </a:prstGeom>
          <a:noFill/>
          <a:ln w="0">
            <a:noFill/>
          </a:ln>
        </p:spPr>
        <p:style>
          <a:lnRef idx="0"/>
          <a:fillRef idx="0"/>
          <a:effectRef idx="0"/>
          <a:fontRef idx="minor"/>
        </p:style>
        <p:txBody>
          <a:bodyPr lIns="0" tIns="0" rIns="0" bIns="0" anchor="t">
            <a:spAutoFit/>
          </a:bodyPr>
          <a:p>
            <a:pPr defTabSz="457200">
              <a:lnSpc>
                <a:spcPct val="105000"/>
              </a:lnSpc>
            </a:pPr>
            <a:r>
              <a:rPr lang="en-US" sz="1650" b="0" i="1" u="none" strike="noStrike">
                <a:solidFill>
                  <a:srgbClr val="E9F1F7"/>
                </a:solidFill>
                <a:effectLst/>
                <a:uFillTx/>
                <a:latin typeface="Calibri"/>
              </a:rPr>
              <a:t>Open CVN: una arquitectura computacional abierta para representar, validar, transformar y exportar currículos académicos</a:t>
            </a:r>
            <a:endParaRPr lang="es-ES" sz="1650" b="0" u="none" strike="noStrike">
              <a:solidFill>
                <a:srgbClr val="000000"/>
              </a:solidFill>
              <a:effectLst/>
              <a:uFillTx/>
              <a:latin typeface="Arial"/>
            </a:endParaRPr>
          </a:p>
        </p:txBody>
      </p:sp>
      <p:sp>
        <p:nvSpPr>
          <p:cNvPr id="74" name="TextBox 8"/>
          <p:cNvSpPr/>
          <p:nvPr/>
        </p:nvSpPr>
        <p:spPr>
          <a:xfrm>
            <a:off x="640080" y="4343400"/>
            <a:ext cx="731484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700" b="1" u="none" strike="noStrike">
                <a:solidFill>
                  <a:srgbClr val="FFFFFF"/>
                </a:solidFill>
                <a:effectLst/>
                <a:uFillTx/>
                <a:latin typeface="Cambria"/>
              </a:rPr>
              <a:t>Carlos Martínez Jaén</a:t>
            </a:r>
            <a:endParaRPr lang="es-ES" sz="1700" b="0" u="none" strike="noStrike">
              <a:solidFill>
                <a:srgbClr val="000000"/>
              </a:solidFill>
              <a:effectLst/>
              <a:uFillTx/>
              <a:latin typeface="Arial"/>
            </a:endParaRPr>
          </a:p>
        </p:txBody>
      </p:sp>
      <p:sp>
        <p:nvSpPr>
          <p:cNvPr id="75" name="TextBox 9"/>
          <p:cNvSpPr/>
          <p:nvPr/>
        </p:nvSpPr>
        <p:spPr>
          <a:xfrm>
            <a:off x="640080" y="4736520"/>
            <a:ext cx="73148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0" u="none" strike="noStrike">
                <a:solidFill>
                  <a:srgbClr val="A9BFD1"/>
                </a:solidFill>
                <a:effectLst/>
                <a:uFillTx/>
                <a:latin typeface="Calibri"/>
              </a:rPr>
              <a:t>Directores: Luis De la Ossa Jiménez · José Antonio Gámez Martín</a:t>
            </a:r>
            <a:endParaRPr lang="es-ES" sz="1250" b="0" u="none" strike="noStrike">
              <a:solidFill>
                <a:srgbClr val="000000"/>
              </a:solidFill>
              <a:effectLst/>
              <a:uFillTx/>
              <a:latin typeface="Arial"/>
            </a:endParaRPr>
          </a:p>
        </p:txBody>
      </p:sp>
      <p:sp>
        <p:nvSpPr>
          <p:cNvPr id="76" name="TextBox 10"/>
          <p:cNvSpPr/>
          <p:nvPr/>
        </p:nvSpPr>
        <p:spPr>
          <a:xfrm>
            <a:off x="640080" y="5047560"/>
            <a:ext cx="73148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0" u="none" strike="noStrike">
                <a:solidFill>
                  <a:srgbClr val="A9BFD1"/>
                </a:solidFill>
                <a:effectLst/>
                <a:uFillTx/>
                <a:latin typeface="Calibri"/>
              </a:rPr>
              <a:t>Escuela Superior de Ingeniería Informática de Albacete · Universidad de Castilla-La Mancha</a:t>
            </a:r>
            <a:endParaRPr lang="es-ES" sz="1250" b="0" u="none" strike="noStrike">
              <a:solidFill>
                <a:srgbClr val="000000"/>
              </a:solidFill>
              <a:effectLst/>
              <a:uFillTx/>
              <a:latin typeface="Arial"/>
            </a:endParaRPr>
          </a:p>
        </p:txBody>
      </p:sp>
      <p:sp>
        <p:nvSpPr>
          <p:cNvPr id="77" name="TextBox 11"/>
          <p:cNvSpPr/>
          <p:nvPr/>
        </p:nvSpPr>
        <p:spPr>
          <a:xfrm>
            <a:off x="640080" y="5358240"/>
            <a:ext cx="73148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0" u="none" strike="noStrike">
                <a:solidFill>
                  <a:srgbClr val="A9BFD1"/>
                </a:solidFill>
                <a:effectLst/>
                <a:uFillTx/>
                <a:latin typeface="Calibri"/>
              </a:rPr>
              <a:t>Julio de 2026</a:t>
            </a:r>
            <a:endParaRPr lang="es-E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9"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Índice</a:t>
            </a:r>
            <a:endParaRPr lang="es-ES" sz="3000" b="0" u="none" strike="noStrike">
              <a:solidFill>
                <a:srgbClr val="000000"/>
              </a:solidFill>
              <a:effectLst/>
              <a:uFillTx/>
              <a:latin typeface="Arial"/>
            </a:endParaRPr>
          </a:p>
        </p:txBody>
      </p:sp>
      <p:sp>
        <p:nvSpPr>
          <p:cNvPr id="80" name="Oval 4"/>
          <p:cNvSpPr/>
          <p:nvPr/>
        </p:nvSpPr>
        <p:spPr>
          <a:xfrm>
            <a:off x="640080" y="178308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1</a:t>
            </a:r>
            <a:endParaRPr lang="es-ES" sz="1500" b="0" u="none" strike="noStrike">
              <a:solidFill>
                <a:srgbClr val="FFFFFF"/>
              </a:solidFill>
              <a:effectLst/>
              <a:uFillTx/>
              <a:latin typeface="Arial"/>
            </a:endParaRPr>
          </a:p>
        </p:txBody>
      </p:sp>
      <p:sp>
        <p:nvSpPr>
          <p:cNvPr id="81" name="TextBox 5"/>
          <p:cNvSpPr/>
          <p:nvPr/>
        </p:nvSpPr>
        <p:spPr>
          <a:xfrm>
            <a:off x="1261800" y="180144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Motivación y contexto</a:t>
            </a:r>
            <a:endParaRPr lang="es-ES" sz="1600" b="0" u="none" strike="noStrike">
              <a:solidFill>
                <a:srgbClr val="000000"/>
              </a:solidFill>
              <a:effectLst/>
              <a:uFillTx/>
              <a:latin typeface="Arial"/>
            </a:endParaRPr>
          </a:p>
        </p:txBody>
      </p:sp>
      <p:sp>
        <p:nvSpPr>
          <p:cNvPr id="82" name="Oval 6"/>
          <p:cNvSpPr/>
          <p:nvPr/>
        </p:nvSpPr>
        <p:spPr>
          <a:xfrm>
            <a:off x="640080" y="2569320"/>
            <a:ext cx="456840" cy="45684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2</a:t>
            </a:r>
            <a:endParaRPr lang="es-ES" sz="1500" b="0" u="none" strike="noStrike">
              <a:solidFill>
                <a:srgbClr val="FFFFFF"/>
              </a:solidFill>
              <a:effectLst/>
              <a:uFillTx/>
              <a:latin typeface="Arial"/>
            </a:endParaRPr>
          </a:p>
        </p:txBody>
      </p:sp>
      <p:sp>
        <p:nvSpPr>
          <p:cNvPr id="83" name="TextBox 7"/>
          <p:cNvSpPr/>
          <p:nvPr/>
        </p:nvSpPr>
        <p:spPr>
          <a:xfrm>
            <a:off x="1261800" y="258768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Objetivos del trabajo</a:t>
            </a:r>
            <a:endParaRPr lang="es-ES" sz="1600" b="0" u="none" strike="noStrike">
              <a:solidFill>
                <a:srgbClr val="000000"/>
              </a:solidFill>
              <a:effectLst/>
              <a:uFillTx/>
              <a:latin typeface="Arial"/>
            </a:endParaRPr>
          </a:p>
        </p:txBody>
      </p:sp>
      <p:sp>
        <p:nvSpPr>
          <p:cNvPr id="84" name="Oval 8"/>
          <p:cNvSpPr/>
          <p:nvPr/>
        </p:nvSpPr>
        <p:spPr>
          <a:xfrm>
            <a:off x="640080" y="335592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3</a:t>
            </a:r>
            <a:endParaRPr lang="es-ES" sz="1500" b="0" u="none" strike="noStrike">
              <a:solidFill>
                <a:srgbClr val="FFFFFF"/>
              </a:solidFill>
              <a:effectLst/>
              <a:uFillTx/>
              <a:latin typeface="Arial"/>
            </a:endParaRPr>
          </a:p>
        </p:txBody>
      </p:sp>
      <p:sp>
        <p:nvSpPr>
          <p:cNvPr id="85" name="TextBox 9"/>
          <p:cNvSpPr/>
          <p:nvPr/>
        </p:nvSpPr>
        <p:spPr>
          <a:xfrm>
            <a:off x="1261800" y="337428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El ecosistema CVN y su análisis</a:t>
            </a:r>
            <a:endParaRPr lang="es-ES" sz="1600" b="0" u="none" strike="noStrike">
              <a:solidFill>
                <a:srgbClr val="000000"/>
              </a:solidFill>
              <a:effectLst/>
              <a:uFillTx/>
              <a:latin typeface="Arial"/>
            </a:endParaRPr>
          </a:p>
        </p:txBody>
      </p:sp>
      <p:sp>
        <p:nvSpPr>
          <p:cNvPr id="86" name="Oval 10"/>
          <p:cNvSpPr/>
          <p:nvPr/>
        </p:nvSpPr>
        <p:spPr>
          <a:xfrm>
            <a:off x="640080" y="4142160"/>
            <a:ext cx="456840" cy="45684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4</a:t>
            </a:r>
            <a:endParaRPr lang="es-ES" sz="1500" b="0" u="none" strike="noStrike">
              <a:solidFill>
                <a:srgbClr val="FFFFFF"/>
              </a:solidFill>
              <a:effectLst/>
              <a:uFillTx/>
              <a:latin typeface="Arial"/>
            </a:endParaRPr>
          </a:p>
        </p:txBody>
      </p:sp>
      <p:sp>
        <p:nvSpPr>
          <p:cNvPr id="87" name="TextBox 11"/>
          <p:cNvSpPr/>
          <p:nvPr/>
        </p:nvSpPr>
        <p:spPr>
          <a:xfrm>
            <a:off x="1261800" y="416052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Metodología y arquitectura</a:t>
            </a:r>
            <a:endParaRPr lang="es-ES" sz="1600" b="0" u="none" strike="noStrike">
              <a:solidFill>
                <a:srgbClr val="000000"/>
              </a:solidFill>
              <a:effectLst/>
              <a:uFillTx/>
              <a:latin typeface="Arial"/>
            </a:endParaRPr>
          </a:p>
        </p:txBody>
      </p:sp>
      <p:sp>
        <p:nvSpPr>
          <p:cNvPr id="88" name="Oval 12"/>
          <p:cNvSpPr/>
          <p:nvPr/>
        </p:nvSpPr>
        <p:spPr>
          <a:xfrm>
            <a:off x="6309360" y="178308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5</a:t>
            </a:r>
            <a:endParaRPr lang="es-ES" sz="1500" b="0" u="none" strike="noStrike">
              <a:solidFill>
                <a:srgbClr val="FFFFFF"/>
              </a:solidFill>
              <a:effectLst/>
              <a:uFillTx/>
              <a:latin typeface="Arial"/>
            </a:endParaRPr>
          </a:p>
        </p:txBody>
      </p:sp>
      <p:sp>
        <p:nvSpPr>
          <p:cNvPr id="89" name="TextBox 13"/>
          <p:cNvSpPr/>
          <p:nvPr/>
        </p:nvSpPr>
        <p:spPr>
          <a:xfrm>
            <a:off x="6931080" y="180144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Implementación del pipeline</a:t>
            </a:r>
            <a:endParaRPr lang="es-ES" sz="1600" b="0" u="none" strike="noStrike">
              <a:solidFill>
                <a:srgbClr val="000000"/>
              </a:solidFill>
              <a:effectLst/>
              <a:uFillTx/>
              <a:latin typeface="Arial"/>
            </a:endParaRPr>
          </a:p>
        </p:txBody>
      </p:sp>
      <p:sp>
        <p:nvSpPr>
          <p:cNvPr id="90" name="Oval 14"/>
          <p:cNvSpPr/>
          <p:nvPr/>
        </p:nvSpPr>
        <p:spPr>
          <a:xfrm>
            <a:off x="6309360" y="2569320"/>
            <a:ext cx="456840" cy="45684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6</a:t>
            </a:r>
            <a:endParaRPr lang="es-ES" sz="1500" b="0" u="none" strike="noStrike">
              <a:solidFill>
                <a:srgbClr val="FFFFFF"/>
              </a:solidFill>
              <a:effectLst/>
              <a:uFillTx/>
              <a:latin typeface="Arial"/>
            </a:endParaRPr>
          </a:p>
        </p:txBody>
      </p:sp>
      <p:sp>
        <p:nvSpPr>
          <p:cNvPr id="91" name="TextBox 15"/>
          <p:cNvSpPr/>
          <p:nvPr/>
        </p:nvSpPr>
        <p:spPr>
          <a:xfrm>
            <a:off x="6931080" y="258768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Formato Open CVN y herramienta</a:t>
            </a:r>
            <a:endParaRPr lang="es-ES" sz="1600" b="0" u="none" strike="noStrike">
              <a:solidFill>
                <a:srgbClr val="000000"/>
              </a:solidFill>
              <a:effectLst/>
              <a:uFillTx/>
              <a:latin typeface="Arial"/>
            </a:endParaRPr>
          </a:p>
        </p:txBody>
      </p:sp>
      <p:sp>
        <p:nvSpPr>
          <p:cNvPr id="92" name="Oval 16"/>
          <p:cNvSpPr/>
          <p:nvPr/>
        </p:nvSpPr>
        <p:spPr>
          <a:xfrm>
            <a:off x="6309360" y="335592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7</a:t>
            </a:r>
            <a:endParaRPr lang="es-ES" sz="1500" b="0" u="none" strike="noStrike">
              <a:solidFill>
                <a:srgbClr val="FFFFFF"/>
              </a:solidFill>
              <a:effectLst/>
              <a:uFillTx/>
              <a:latin typeface="Arial"/>
            </a:endParaRPr>
          </a:p>
        </p:txBody>
      </p:sp>
      <p:sp>
        <p:nvSpPr>
          <p:cNvPr id="93" name="TextBox 17"/>
          <p:cNvSpPr/>
          <p:nvPr/>
        </p:nvSpPr>
        <p:spPr>
          <a:xfrm>
            <a:off x="6931080" y="337428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Evaluación y resultados</a:t>
            </a:r>
            <a:endParaRPr lang="es-ES" sz="1600" b="0" u="none" strike="noStrike">
              <a:solidFill>
                <a:srgbClr val="000000"/>
              </a:solidFill>
              <a:effectLst/>
              <a:uFillTx/>
              <a:latin typeface="Arial"/>
            </a:endParaRPr>
          </a:p>
        </p:txBody>
      </p:sp>
      <p:sp>
        <p:nvSpPr>
          <p:cNvPr id="94" name="Oval 18"/>
          <p:cNvSpPr/>
          <p:nvPr/>
        </p:nvSpPr>
        <p:spPr>
          <a:xfrm>
            <a:off x="6309360" y="4142160"/>
            <a:ext cx="456840" cy="45684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8</a:t>
            </a:r>
            <a:endParaRPr lang="es-ES" sz="1500" b="0" u="none" strike="noStrike">
              <a:solidFill>
                <a:srgbClr val="FFFFFF"/>
              </a:solidFill>
              <a:effectLst/>
              <a:uFillTx/>
              <a:latin typeface="Arial"/>
            </a:endParaRPr>
          </a:p>
        </p:txBody>
      </p:sp>
      <p:sp>
        <p:nvSpPr>
          <p:cNvPr id="95" name="TextBox 19"/>
          <p:cNvSpPr/>
          <p:nvPr/>
        </p:nvSpPr>
        <p:spPr>
          <a:xfrm>
            <a:off x="6931080" y="4160520"/>
            <a:ext cx="4388760" cy="4568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600" b="1" u="none" strike="noStrike">
                <a:solidFill>
                  <a:srgbClr val="162230"/>
                </a:solidFill>
                <a:effectLst/>
                <a:uFillTx/>
                <a:latin typeface="Calibri"/>
              </a:rPr>
              <a:t>Conclusiones y trabajo futuro</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7"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1 · MOTIVACIÓN Y CONTEXTO</a:t>
            </a:r>
            <a:endParaRPr lang="es-ES" sz="1300" b="0" u="none" strike="noStrike">
              <a:solidFill>
                <a:srgbClr val="000000"/>
              </a:solidFill>
              <a:effectLst/>
              <a:uFillTx/>
              <a:latin typeface="Arial"/>
            </a:endParaRPr>
          </a:p>
        </p:txBody>
      </p:sp>
      <p:sp>
        <p:nvSpPr>
          <p:cNvPr id="98"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El coste no está en el formato, está en usarlo</a:t>
            </a:r>
            <a:endParaRPr lang="es-ES" sz="3000" b="0" u="none" strike="noStrike">
              <a:solidFill>
                <a:srgbClr val="000000"/>
              </a:solidFill>
              <a:effectLst/>
              <a:uFillTx/>
              <a:latin typeface="Arial"/>
            </a:endParaRPr>
          </a:p>
        </p:txBody>
      </p:sp>
      <p:sp>
        <p:nvSpPr>
          <p:cNvPr id="99" name="TextBox 4"/>
          <p:cNvSpPr/>
          <p:nvPr/>
        </p:nvSpPr>
        <p:spPr>
          <a:xfrm>
            <a:off x="640080" y="1783080"/>
            <a:ext cx="6309000" cy="420588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08000"/>
              </a:lnSpc>
              <a:spcAft>
                <a:spcPts val="1800"/>
              </a:spcAft>
              <a:buClr>
                <a:srgbClr val="065A82"/>
              </a:buClr>
              <a:buSzPct val="55000"/>
              <a:buFont typeface="Arial"/>
              <a:buChar char="●"/>
            </a:pPr>
            <a:r>
              <a:rPr lang="en-US" sz="1550" b="1" u="none" strike="noStrike">
                <a:solidFill>
                  <a:srgbClr val="162230"/>
                </a:solidFill>
                <a:effectLst/>
                <a:uFillTx/>
                <a:latin typeface="Calibri"/>
              </a:rPr>
              <a:t>Norma de referencia. </a:t>
            </a:r>
            <a:r>
              <a:rPr lang="en-US" sz="1550" b="0" u="none" strike="noStrike">
                <a:solidFill>
                  <a:srgbClr val="162230"/>
                </a:solidFill>
                <a:effectLst/>
                <a:uFillTx/>
                <a:latin typeface="Calibri"/>
              </a:rPr>
              <a:t>FECYT define CVN como el formato común de presentación de datos curriculares de investigadores en España, y su interoperabilidad con bases de datos institucionales.</a:t>
            </a:r>
            <a:endParaRPr lang="es-ES" sz="1550" b="0" u="none" strike="noStrike">
              <a:solidFill>
                <a:srgbClr val="000000"/>
              </a:solidFill>
              <a:effectLst/>
              <a:uFillTx/>
              <a:latin typeface="Arial"/>
            </a:endParaRPr>
          </a:p>
          <a:p>
            <a:pPr marL="255960" indent="-255960" defTabSz="457200">
              <a:lnSpc>
                <a:spcPct val="108000"/>
              </a:lnSpc>
              <a:spcAft>
                <a:spcPts val="1800"/>
              </a:spcAft>
              <a:buClr>
                <a:srgbClr val="065A82"/>
              </a:buClr>
              <a:buSzPct val="55000"/>
              <a:buFont typeface="Arial"/>
              <a:buChar char="●"/>
            </a:pPr>
            <a:r>
              <a:rPr lang="en-US" sz="1550" b="1" u="none" strike="noStrike">
                <a:solidFill>
                  <a:srgbClr val="162230"/>
                </a:solidFill>
                <a:effectLst/>
                <a:uFillTx/>
                <a:latin typeface="Calibri"/>
              </a:rPr>
              <a:t>Uso más allá de la presentación. </a:t>
            </a:r>
            <a:r>
              <a:rPr lang="en-US" sz="1550" b="0" u="none" strike="noStrike">
                <a:solidFill>
                  <a:srgbClr val="162230"/>
                </a:solidFill>
                <a:effectLst/>
                <a:uFillTx/>
                <a:latin typeface="Calibri"/>
              </a:rPr>
              <a:t>El currículo se emplea como entrada en evaluaciones, convocatorias, solicitudes de ayudas, acreditaciones y sistemas de gestión de la investigación.</a:t>
            </a:r>
            <a:endParaRPr lang="es-ES" sz="1550" b="0" u="none" strike="noStrike">
              <a:solidFill>
                <a:srgbClr val="000000"/>
              </a:solidFill>
              <a:effectLst/>
              <a:uFillTx/>
              <a:latin typeface="Arial"/>
            </a:endParaRPr>
          </a:p>
          <a:p>
            <a:pPr marL="255960" indent="-255960" defTabSz="457200">
              <a:lnSpc>
                <a:spcPct val="108000"/>
              </a:lnSpc>
              <a:spcAft>
                <a:spcPts val="1800"/>
              </a:spcAft>
              <a:buClr>
                <a:srgbClr val="065A82"/>
              </a:buClr>
              <a:buSzPct val="55000"/>
              <a:buFont typeface="Arial"/>
              <a:buChar char="●"/>
            </a:pPr>
            <a:r>
              <a:rPr lang="en-US" sz="1550" b="1" u="none" strike="noStrike">
                <a:solidFill>
                  <a:srgbClr val="162230"/>
                </a:solidFill>
                <a:effectLst/>
                <a:uFillTx/>
                <a:latin typeface="Calibri"/>
              </a:rPr>
              <a:t>El formato existe, el problema persiste. </a:t>
            </a:r>
            <a:r>
              <a:rPr lang="en-US" sz="1550" b="0" u="none" strike="noStrike">
                <a:solidFill>
                  <a:srgbClr val="162230"/>
                </a:solidFill>
                <a:effectLst/>
                <a:uFillTx/>
                <a:latin typeface="Calibri"/>
              </a:rPr>
              <a:t>Disponer de una norma común no elimina el coste de elaborar, mantener y adaptar un currículo a distintos contextos.</a:t>
            </a:r>
            <a:endParaRPr lang="es-ES" sz="1550" b="0" u="none" strike="noStrike">
              <a:solidFill>
                <a:srgbClr val="000000"/>
              </a:solidFill>
              <a:effectLst/>
              <a:uFillTx/>
              <a:latin typeface="Arial"/>
            </a:endParaRPr>
          </a:p>
        </p:txBody>
      </p:sp>
      <p:sp>
        <p:nvSpPr>
          <p:cNvPr id="100" name="Rounded Rectangle 5"/>
          <p:cNvSpPr/>
          <p:nvPr/>
        </p:nvSpPr>
        <p:spPr>
          <a:xfrm>
            <a:off x="7269480" y="1783080"/>
            <a:ext cx="4251600" cy="3977280"/>
          </a:xfrm>
          <a:prstGeom prst="roundRect">
            <a:avLst>
              <a:gd name="adj" fmla="val 10000"/>
            </a:avLst>
          </a:prstGeom>
          <a:solidFill>
            <a:srgbClr val="FBF0D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1" name="TextBox 6"/>
          <p:cNvSpPr/>
          <p:nvPr/>
        </p:nvSpPr>
        <p:spPr>
          <a:xfrm>
            <a:off x="7543800" y="2011680"/>
            <a:ext cx="370296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E09A3E"/>
                </a:solidFill>
                <a:effectLst/>
                <a:uFillTx/>
                <a:latin typeface="Calibri"/>
              </a:rPr>
              <a:t>EL PROBLEMA DE PARTIDA</a:t>
            </a:r>
            <a:endParaRPr lang="es-ES" sz="1200" b="0" u="none" strike="noStrike">
              <a:solidFill>
                <a:srgbClr val="000000"/>
              </a:solidFill>
              <a:effectLst/>
              <a:uFillTx/>
              <a:latin typeface="Arial"/>
            </a:endParaRPr>
          </a:p>
        </p:txBody>
      </p:sp>
      <p:sp>
        <p:nvSpPr>
          <p:cNvPr id="102" name="TextBox 7"/>
          <p:cNvSpPr/>
          <p:nvPr/>
        </p:nvSpPr>
        <p:spPr>
          <a:xfrm>
            <a:off x="7543800" y="2450520"/>
            <a:ext cx="3702960" cy="21027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600" b="0" i="1" u="none" strike="noStrike">
                <a:solidFill>
                  <a:srgbClr val="162230"/>
                </a:solidFill>
                <a:effectLst/>
                <a:uFillTx/>
                <a:latin typeface="Cambria"/>
              </a:rPr>
              <a:t>“Pequeñas variaciones en la estructura o en el formato de salida obligan a tareas manuales repetitivas cada vez que un currículo se reutiliza en un contexto distinto.”</a:t>
            </a:r>
            <a:endParaRPr lang="es-ES" sz="1600" b="0" u="none" strike="noStrike">
              <a:solidFill>
                <a:srgbClr val="000000"/>
              </a:solidFill>
              <a:effectLst/>
              <a:uFillTx/>
              <a:latin typeface="Arial"/>
            </a:endParaRPr>
          </a:p>
        </p:txBody>
      </p:sp>
      <p:sp>
        <p:nvSpPr>
          <p:cNvPr id="103" name="TextBox 8"/>
          <p:cNvSpPr/>
          <p:nvPr/>
        </p:nvSpPr>
        <p:spPr>
          <a:xfrm>
            <a:off x="7543800" y="5074920"/>
            <a:ext cx="3702960" cy="5482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65A82"/>
                </a:solidFill>
                <a:effectLst/>
                <a:uFillTx/>
                <a:latin typeface="Calibri"/>
              </a:rPr>
              <a:t>El uso automatizado de CVN sigue siendo costoso.</a:t>
            </a:r>
            <a:endParaRPr lang="es-E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5"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1 · MOTIVACIÓN Y CONTEXTO</a:t>
            </a:r>
            <a:endParaRPr lang="es-ES" sz="1300" b="0" u="none" strike="noStrike">
              <a:solidFill>
                <a:srgbClr val="000000"/>
              </a:solidFill>
              <a:effectLst/>
              <a:uFillTx/>
              <a:latin typeface="Arial"/>
            </a:endParaRPr>
          </a:p>
        </p:txBody>
      </p:sp>
      <p:sp>
        <p:nvSpPr>
          <p:cNvPr id="106"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CVN no es un documento: es un ecosistema de artefactos</a:t>
            </a:r>
            <a:endParaRPr lang="es-ES" sz="3000" b="0" u="none" strike="noStrike">
              <a:solidFill>
                <a:srgbClr val="000000"/>
              </a:solidFill>
              <a:effectLst/>
              <a:uFillTx/>
              <a:latin typeface="Arial"/>
            </a:endParaRPr>
          </a:p>
        </p:txBody>
      </p:sp>
      <p:sp>
        <p:nvSpPr>
          <p:cNvPr id="107" name="Rounded Rectangle 4"/>
          <p:cNvSpPr/>
          <p:nvPr/>
        </p:nvSpPr>
        <p:spPr>
          <a:xfrm>
            <a:off x="640080" y="1783080"/>
            <a:ext cx="5988960" cy="785880"/>
          </a:xfrm>
          <a:prstGeom prst="roundRect">
            <a:avLst>
              <a:gd name="adj" fmla="val 1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8" name="TextBox 5"/>
          <p:cNvSpPr/>
          <p:nvPr/>
        </p:nvSpPr>
        <p:spPr>
          <a:xfrm>
            <a:off x="868680" y="187452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50" b="1" u="none" strike="noStrike">
                <a:solidFill>
                  <a:srgbClr val="FFFFFF"/>
                </a:solidFill>
                <a:effectLst/>
                <a:uFillTx/>
                <a:latin typeface="Calibri"/>
              </a:rPr>
              <a:t>Manual de especificaciones (PDF)</a:t>
            </a:r>
            <a:endParaRPr lang="es-ES" sz="1450" b="0" u="none" strike="noStrike">
              <a:solidFill>
                <a:srgbClr val="000000"/>
              </a:solidFill>
              <a:effectLst/>
              <a:uFillTx/>
              <a:latin typeface="Arial"/>
            </a:endParaRPr>
          </a:p>
        </p:txBody>
      </p:sp>
      <p:sp>
        <p:nvSpPr>
          <p:cNvPr id="109" name="TextBox 6"/>
          <p:cNvSpPr/>
          <p:nvPr/>
        </p:nvSpPr>
        <p:spPr>
          <a:xfrm>
            <a:off x="868680" y="218556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9BFD1"/>
                </a:solidFill>
                <a:effectLst/>
                <a:uFillTx/>
                <a:latin typeface="Calibri"/>
              </a:rPr>
              <a:t>Significado funcional de cada campo, para lectura humana</a:t>
            </a:r>
            <a:endParaRPr lang="es-ES" sz="1100" b="0" u="none" strike="noStrike">
              <a:solidFill>
                <a:srgbClr val="000000"/>
              </a:solidFill>
              <a:effectLst/>
              <a:uFillTx/>
              <a:latin typeface="Arial"/>
            </a:endParaRPr>
          </a:p>
        </p:txBody>
      </p:sp>
      <p:sp>
        <p:nvSpPr>
          <p:cNvPr id="110" name="Rounded Rectangle 7"/>
          <p:cNvSpPr/>
          <p:nvPr/>
        </p:nvSpPr>
        <p:spPr>
          <a:xfrm>
            <a:off x="640080" y="2697480"/>
            <a:ext cx="5988960" cy="785880"/>
          </a:xfrm>
          <a:prstGeom prst="roundRect">
            <a:avLst>
              <a:gd name="adj" fmla="val 10000"/>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1" name="TextBox 8"/>
          <p:cNvSpPr/>
          <p:nvPr/>
        </p:nvSpPr>
        <p:spPr>
          <a:xfrm>
            <a:off x="868680" y="278892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50" b="1" u="none" strike="noStrike">
                <a:solidFill>
                  <a:srgbClr val="FFFFFF"/>
                </a:solidFill>
                <a:effectLst/>
                <a:uFillTx/>
                <a:latin typeface="Calibri"/>
              </a:rPr>
              <a:t>Manual estructurado (XML)</a:t>
            </a:r>
            <a:endParaRPr lang="es-ES" sz="1450" b="0" u="none" strike="noStrike">
              <a:solidFill>
                <a:srgbClr val="000000"/>
              </a:solidFill>
              <a:effectLst/>
              <a:uFillTx/>
              <a:latin typeface="Arial"/>
            </a:endParaRPr>
          </a:p>
        </p:txBody>
      </p:sp>
      <p:sp>
        <p:nvSpPr>
          <p:cNvPr id="112" name="TextBox 9"/>
          <p:cNvSpPr/>
          <p:nvPr/>
        </p:nvSpPr>
        <p:spPr>
          <a:xfrm>
            <a:off x="868680" y="309996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9BFD1"/>
                </a:solidFill>
                <a:effectLst/>
                <a:uFillTx/>
                <a:latin typeface="Calibri"/>
              </a:rPr>
              <a:t>El mismo manual, en forma parseable por software</a:t>
            </a:r>
            <a:endParaRPr lang="es-ES" sz="1100" b="0" u="none" strike="noStrike">
              <a:solidFill>
                <a:srgbClr val="000000"/>
              </a:solidFill>
              <a:effectLst/>
              <a:uFillTx/>
              <a:latin typeface="Arial"/>
            </a:endParaRPr>
          </a:p>
        </p:txBody>
      </p:sp>
      <p:sp>
        <p:nvSpPr>
          <p:cNvPr id="113" name="Rounded Rectangle 10"/>
          <p:cNvSpPr/>
          <p:nvPr/>
        </p:nvSpPr>
        <p:spPr>
          <a:xfrm>
            <a:off x="640080" y="3611880"/>
            <a:ext cx="5988960" cy="785880"/>
          </a:xfrm>
          <a:prstGeom prst="roundRect">
            <a:avLst>
              <a:gd name="adj" fmla="val 10000"/>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4" name="TextBox 11"/>
          <p:cNvSpPr/>
          <p:nvPr/>
        </p:nvSpPr>
        <p:spPr>
          <a:xfrm>
            <a:off x="868680" y="370332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50" b="1" u="none" strike="noStrike">
                <a:solidFill>
                  <a:srgbClr val="FFFFFF"/>
                </a:solidFill>
                <a:effectLst/>
                <a:uFillTx/>
                <a:latin typeface="Calibri"/>
              </a:rPr>
              <a:t>Modelo en árbol (XML)</a:t>
            </a:r>
            <a:endParaRPr lang="es-ES" sz="1450" b="0" u="none" strike="noStrike">
              <a:solidFill>
                <a:srgbClr val="000000"/>
              </a:solidFill>
              <a:effectLst/>
              <a:uFillTx/>
              <a:latin typeface="Arial"/>
            </a:endParaRPr>
          </a:p>
        </p:txBody>
      </p:sp>
      <p:sp>
        <p:nvSpPr>
          <p:cNvPr id="115" name="TextBox 12"/>
          <p:cNvSpPr/>
          <p:nvPr/>
        </p:nvSpPr>
        <p:spPr>
          <a:xfrm>
            <a:off x="868680" y="401436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9BFD1"/>
                </a:solidFill>
                <a:effectLst/>
                <a:uFillTx/>
                <a:latin typeface="Calibri"/>
              </a:rPr>
              <a:t>Enlaza cada código funcional con el XML real de un currículo</a:t>
            </a:r>
            <a:endParaRPr lang="es-ES" sz="1100" b="0" u="none" strike="noStrike">
              <a:solidFill>
                <a:srgbClr val="000000"/>
              </a:solidFill>
              <a:effectLst/>
              <a:uFillTx/>
              <a:latin typeface="Arial"/>
            </a:endParaRPr>
          </a:p>
        </p:txBody>
      </p:sp>
      <p:sp>
        <p:nvSpPr>
          <p:cNvPr id="116" name="Rounded Rectangle 13"/>
          <p:cNvSpPr/>
          <p:nvPr/>
        </p:nvSpPr>
        <p:spPr>
          <a:xfrm>
            <a:off x="640080" y="4526280"/>
            <a:ext cx="5988960" cy="785880"/>
          </a:xfrm>
          <a:prstGeom prst="roundRect">
            <a:avLst>
              <a:gd name="adj" fmla="val 10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7" name="TextBox 14"/>
          <p:cNvSpPr/>
          <p:nvPr/>
        </p:nvSpPr>
        <p:spPr>
          <a:xfrm>
            <a:off x="868680" y="461772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50" b="1" u="none" strike="noStrike">
                <a:solidFill>
                  <a:srgbClr val="FFFFFF"/>
                </a:solidFill>
                <a:effectLst/>
                <a:uFillTx/>
                <a:latin typeface="Calibri"/>
              </a:rPr>
              <a:t>Esquemas XSD</a:t>
            </a:r>
            <a:endParaRPr lang="es-ES" sz="1450" b="0" u="none" strike="noStrike">
              <a:solidFill>
                <a:srgbClr val="000000"/>
              </a:solidFill>
              <a:effectLst/>
              <a:uFillTx/>
              <a:latin typeface="Arial"/>
            </a:endParaRPr>
          </a:p>
        </p:txBody>
      </p:sp>
      <p:sp>
        <p:nvSpPr>
          <p:cNvPr id="118" name="TextBox 15"/>
          <p:cNvSpPr/>
          <p:nvPr/>
        </p:nvSpPr>
        <p:spPr>
          <a:xfrm>
            <a:off x="868680" y="4928760"/>
            <a:ext cx="5531760" cy="328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9BFD1"/>
                </a:solidFill>
                <a:effectLst/>
                <a:uFillTx/>
                <a:latin typeface="Calibri"/>
              </a:rPr>
              <a:t>Forma legal del XML y vocabulario de tablas auxiliares</a:t>
            </a:r>
            <a:endParaRPr lang="es-ES" sz="1100" b="0" u="none" strike="noStrike">
              <a:solidFill>
                <a:srgbClr val="000000"/>
              </a:solidFill>
              <a:effectLst/>
              <a:uFillTx/>
              <a:latin typeface="Arial"/>
            </a:endParaRPr>
          </a:p>
        </p:txBody>
      </p:sp>
      <p:sp>
        <p:nvSpPr>
          <p:cNvPr id="119" name="TextBox 16"/>
          <p:cNvSpPr/>
          <p:nvPr/>
        </p:nvSpPr>
        <p:spPr>
          <a:xfrm>
            <a:off x="640080" y="5513760"/>
            <a:ext cx="598896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i="1" u="none" strike="noStrike">
                <a:solidFill>
                  <a:srgbClr val="5B6B7A"/>
                </a:solidFill>
                <a:effectLst/>
                <a:uFillTx/>
                <a:latin typeface="Calibri"/>
              </a:rPr>
              <a:t>+ tres familias auxiliares del paquete oficial:</a:t>
            </a:r>
            <a:endParaRPr lang="es-ES" sz="1150" b="0" u="none" strike="noStrike">
              <a:solidFill>
                <a:srgbClr val="000000"/>
              </a:solidFill>
              <a:effectLst/>
              <a:uFillTx/>
              <a:latin typeface="Arial"/>
            </a:endParaRPr>
          </a:p>
        </p:txBody>
      </p:sp>
      <p:sp>
        <p:nvSpPr>
          <p:cNvPr id="120" name="Rounded Rectangle 17"/>
          <p:cNvSpPr/>
          <p:nvPr/>
        </p:nvSpPr>
        <p:spPr>
          <a:xfrm>
            <a:off x="640080" y="5824800"/>
            <a:ext cx="1912680" cy="328680"/>
          </a:xfrm>
          <a:prstGeom prst="roundRect">
            <a:avLst>
              <a:gd name="adj" fmla="val 5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1" name="TextBox 18"/>
          <p:cNvSpPr/>
          <p:nvPr/>
        </p:nvSpPr>
        <p:spPr>
          <a:xfrm>
            <a:off x="640080" y="5824800"/>
            <a:ext cx="1912680" cy="3286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050" b="1" u="none" strike="noStrike">
                <a:solidFill>
                  <a:srgbClr val="065A82"/>
                </a:solidFill>
                <a:effectLst/>
                <a:uFillTx/>
                <a:latin typeface="Calibri"/>
              </a:rPr>
              <a:t>Catálogo de entidades</a:t>
            </a:r>
            <a:endParaRPr lang="es-ES" sz="1050" b="0" u="none" strike="noStrike">
              <a:solidFill>
                <a:srgbClr val="000000"/>
              </a:solidFill>
              <a:effectLst/>
              <a:uFillTx/>
              <a:latin typeface="Arial"/>
            </a:endParaRPr>
          </a:p>
        </p:txBody>
      </p:sp>
      <p:sp>
        <p:nvSpPr>
          <p:cNvPr id="122" name="Rounded Rectangle 19"/>
          <p:cNvSpPr/>
          <p:nvPr/>
        </p:nvSpPr>
        <p:spPr>
          <a:xfrm>
            <a:off x="2680920" y="5824800"/>
            <a:ext cx="2753640" cy="328680"/>
          </a:xfrm>
          <a:prstGeom prst="roundRect">
            <a:avLst>
              <a:gd name="adj" fmla="val 5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3" name="TextBox 20"/>
          <p:cNvSpPr/>
          <p:nvPr/>
        </p:nvSpPr>
        <p:spPr>
          <a:xfrm>
            <a:off x="2680920" y="5824800"/>
            <a:ext cx="2753640" cy="3286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050" b="1" u="none" strike="noStrike">
                <a:solidFill>
                  <a:srgbClr val="065A82"/>
                </a:solidFill>
                <a:effectLst/>
                <a:uFillTx/>
                <a:latin typeface="Calibri"/>
              </a:rPr>
              <a:t>Tablas de referencia / subtipos</a:t>
            </a:r>
            <a:endParaRPr lang="es-ES" sz="1050" b="0" u="none" strike="noStrike">
              <a:solidFill>
                <a:srgbClr val="000000"/>
              </a:solidFill>
              <a:effectLst/>
              <a:uFillTx/>
              <a:latin typeface="Arial"/>
            </a:endParaRPr>
          </a:p>
        </p:txBody>
      </p:sp>
      <p:sp>
        <p:nvSpPr>
          <p:cNvPr id="124" name="Rounded Rectangle 21"/>
          <p:cNvSpPr/>
          <p:nvPr/>
        </p:nvSpPr>
        <p:spPr>
          <a:xfrm>
            <a:off x="5563080" y="5824800"/>
            <a:ext cx="1744200" cy="328680"/>
          </a:xfrm>
          <a:prstGeom prst="roundRect">
            <a:avLst>
              <a:gd name="adj" fmla="val 5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5" name="TextBox 22"/>
          <p:cNvSpPr/>
          <p:nvPr/>
        </p:nvSpPr>
        <p:spPr>
          <a:xfrm>
            <a:off x="5563080" y="5824800"/>
            <a:ext cx="1744200" cy="3286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050" b="1" u="none" strike="noStrike">
                <a:solidFill>
                  <a:srgbClr val="065A82"/>
                </a:solidFill>
                <a:effectLst/>
                <a:uFillTx/>
                <a:latin typeface="Calibri"/>
              </a:rPr>
              <a:t>Tesauro multilingüe</a:t>
            </a:r>
            <a:endParaRPr lang="es-ES" sz="1050" b="0" u="none" strike="noStrike">
              <a:solidFill>
                <a:srgbClr val="000000"/>
              </a:solidFill>
              <a:effectLst/>
              <a:uFillTx/>
              <a:latin typeface="Arial"/>
            </a:endParaRPr>
          </a:p>
        </p:txBody>
      </p:sp>
      <p:sp>
        <p:nvSpPr>
          <p:cNvPr id="126" name="TextBox 23"/>
          <p:cNvSpPr/>
          <p:nvPr/>
        </p:nvSpPr>
        <p:spPr>
          <a:xfrm>
            <a:off x="6995160" y="1783080"/>
            <a:ext cx="4525920" cy="420588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08000"/>
              </a:lnSpc>
              <a:spcAft>
                <a:spcPts val="1599"/>
              </a:spcAft>
              <a:buClr>
                <a:srgbClr val="065A82"/>
              </a:buClr>
              <a:buSzPct val="55000"/>
              <a:buFont typeface="Arial"/>
              <a:buChar char="●"/>
            </a:pPr>
            <a:r>
              <a:rPr lang="en-US" sz="1400" b="1" u="none" strike="noStrike">
                <a:solidFill>
                  <a:srgbClr val="162230"/>
                </a:solidFill>
                <a:effectLst/>
                <a:uFillTx/>
                <a:latin typeface="Calibri"/>
              </a:rPr>
              <a:t>Fuente única y oficial. </a:t>
            </a:r>
            <a:r>
              <a:rPr lang="en-US" sz="1400" b="0" u="none" strike="noStrike">
                <a:solidFill>
                  <a:srgbClr val="162230"/>
                </a:solidFill>
                <a:effectLst/>
                <a:uFillTx/>
                <a:latin typeface="Calibri"/>
              </a:rPr>
              <a:t>Todo el trabajo parte de la norma CVN y del paquete que FECYT distribuye para su implementación.</a:t>
            </a:r>
            <a:endParaRPr lang="es-ES" sz="1400" b="0" u="none" strike="noStrike">
              <a:solidFill>
                <a:srgbClr val="000000"/>
              </a:solidFill>
              <a:effectLst/>
              <a:uFillTx/>
              <a:latin typeface="Arial"/>
            </a:endParaRPr>
          </a:p>
          <a:p>
            <a:pPr marL="255960" indent="-255960" defTabSz="457200">
              <a:lnSpc>
                <a:spcPct val="108000"/>
              </a:lnSpc>
              <a:spcAft>
                <a:spcPts val="1599"/>
              </a:spcAft>
              <a:buClr>
                <a:srgbClr val="065A82"/>
              </a:buClr>
              <a:buSzPct val="55000"/>
              <a:buFont typeface="Arial"/>
              <a:buChar char="●"/>
            </a:pPr>
            <a:r>
              <a:rPr lang="en-US" sz="1400" b="1" u="none" strike="noStrike">
                <a:solidFill>
                  <a:srgbClr val="162230"/>
                </a:solidFill>
                <a:effectLst/>
                <a:uFillTx/>
                <a:latin typeface="Calibri"/>
              </a:rPr>
              <a:t>Qué significa vs. cómo se serializa. </a:t>
            </a:r>
            <a:r>
              <a:rPr lang="en-US" sz="1400" b="0" u="none" strike="noStrike">
                <a:solidFill>
                  <a:srgbClr val="162230"/>
                </a:solidFill>
                <a:effectLst/>
                <a:uFillTx/>
                <a:latin typeface="Calibri"/>
              </a:rPr>
              <a:t>El manual explica el significado de cada campo; el modelo en árbol y los XSD explican cómo se codifica en XML.</a:t>
            </a:r>
            <a:endParaRPr lang="es-ES" sz="1400" b="0" u="none" strike="noStrike">
              <a:solidFill>
                <a:srgbClr val="000000"/>
              </a:solidFill>
              <a:effectLst/>
              <a:uFillTx/>
              <a:latin typeface="Arial"/>
            </a:endParaRPr>
          </a:p>
          <a:p>
            <a:pPr marL="255960" indent="-255960" defTabSz="457200">
              <a:lnSpc>
                <a:spcPct val="108000"/>
              </a:lnSpc>
              <a:spcAft>
                <a:spcPts val="1599"/>
              </a:spcAft>
              <a:buClr>
                <a:srgbClr val="065A82"/>
              </a:buClr>
              <a:buSzPct val="55000"/>
              <a:buFont typeface="Arial"/>
              <a:buChar char="●"/>
            </a:pPr>
            <a:r>
              <a:rPr lang="en-US" sz="1400" b="1" u="none" strike="noStrike">
                <a:solidFill>
                  <a:srgbClr val="162230"/>
                </a:solidFill>
                <a:effectLst/>
                <a:uFillTx/>
                <a:latin typeface="Calibri"/>
              </a:rPr>
              <a:t>XML es el mecanismo, no el objeto. </a:t>
            </a:r>
            <a:r>
              <a:rPr lang="en-US" sz="1400" b="0" u="none" strike="noStrike">
                <a:solidFill>
                  <a:srgbClr val="162230"/>
                </a:solidFill>
                <a:effectLst/>
                <a:uFillTx/>
                <a:latin typeface="Calibri"/>
              </a:rPr>
              <a:t>XML sirve para representar e intercambiar los datos de CVN; no agota el contenido conceptual de la norma.</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8"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2 · OBJETIVOS</a:t>
            </a:r>
            <a:endParaRPr lang="es-ES" sz="1300" b="0" u="none" strike="noStrike">
              <a:solidFill>
                <a:srgbClr val="000000"/>
              </a:solidFill>
              <a:effectLst/>
              <a:uFillTx/>
              <a:latin typeface="Arial"/>
            </a:endParaRPr>
          </a:p>
        </p:txBody>
      </p:sp>
      <p:sp>
        <p:nvSpPr>
          <p:cNvPr id="129"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Objetivo general</a:t>
            </a:r>
            <a:endParaRPr lang="es-ES" sz="3000" b="0" u="none" strike="noStrike">
              <a:solidFill>
                <a:srgbClr val="000000"/>
              </a:solidFill>
              <a:effectLst/>
              <a:uFillTx/>
              <a:latin typeface="Arial"/>
            </a:endParaRPr>
          </a:p>
        </p:txBody>
      </p:sp>
      <p:sp>
        <p:nvSpPr>
          <p:cNvPr id="130" name="Rounded Rectangle 4"/>
          <p:cNvSpPr/>
          <p:nvPr/>
        </p:nvSpPr>
        <p:spPr>
          <a:xfrm>
            <a:off x="640080" y="1691640"/>
            <a:ext cx="10881000" cy="14169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1" name="TextBox 5"/>
          <p:cNvSpPr/>
          <p:nvPr/>
        </p:nvSpPr>
        <p:spPr>
          <a:xfrm>
            <a:off x="896040" y="1828800"/>
            <a:ext cx="4568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E09A3E"/>
                </a:solidFill>
                <a:effectLst/>
                <a:uFillTx/>
                <a:latin typeface="Calibri"/>
              </a:rPr>
              <a:t>OG</a:t>
            </a:r>
            <a:endParaRPr lang="es-ES" sz="1300" b="0" u="none" strike="noStrike">
              <a:solidFill>
                <a:srgbClr val="000000"/>
              </a:solidFill>
              <a:effectLst/>
              <a:uFillTx/>
              <a:latin typeface="Arial"/>
            </a:endParaRPr>
          </a:p>
        </p:txBody>
      </p:sp>
      <p:sp>
        <p:nvSpPr>
          <p:cNvPr id="132" name="TextBox 6"/>
          <p:cNvSpPr/>
          <p:nvPr/>
        </p:nvSpPr>
        <p:spPr>
          <a:xfrm>
            <a:off x="896040" y="2084760"/>
            <a:ext cx="10378080" cy="932400"/>
          </a:xfrm>
          <a:prstGeom prst="rect">
            <a:avLst/>
          </a:prstGeom>
          <a:noFill/>
          <a:ln w="0">
            <a:noFill/>
          </a:ln>
        </p:spPr>
        <p:style>
          <a:lnRef idx="0"/>
          <a:fillRef idx="0"/>
          <a:effectRef idx="0"/>
          <a:fontRef idx="minor"/>
        </p:style>
        <p:txBody>
          <a:bodyPr lIns="0" tIns="0" rIns="0" bIns="0" anchor="t">
            <a:spAutoFit/>
          </a:bodyPr>
          <a:p>
            <a:pPr defTabSz="457200">
              <a:lnSpc>
                <a:spcPct val="114000"/>
              </a:lnSpc>
            </a:pPr>
            <a:r>
              <a:rPr lang="en-US" sz="1500" b="0" i="1" u="none" strike="noStrike">
                <a:solidFill>
                  <a:srgbClr val="162230"/>
                </a:solidFill>
                <a:effectLst/>
                <a:uFillTx/>
                <a:latin typeface="Cambria"/>
              </a:rPr>
              <a:t>Diseñar e implementar una arquitectura computacional abierta para representar, validar, transformar, almacenar y exportar currículos académicos e investigadores tomando CVN como norma de referencia, sin que su representación XML ni la herramienta oficial condicionen por completo el modelo interno.</a:t>
            </a:r>
            <a:endParaRPr lang="es-ES" sz="1500" b="0" u="none" strike="noStrike">
              <a:solidFill>
                <a:srgbClr val="000000"/>
              </a:solidFill>
              <a:effectLst/>
              <a:uFillTx/>
              <a:latin typeface="Arial"/>
            </a:endParaRPr>
          </a:p>
        </p:txBody>
      </p:sp>
      <p:sp>
        <p:nvSpPr>
          <p:cNvPr id="133" name="Rounded Rectangle 7"/>
          <p:cNvSpPr/>
          <p:nvPr/>
        </p:nvSpPr>
        <p:spPr>
          <a:xfrm>
            <a:off x="640080" y="3337560"/>
            <a:ext cx="2610360" cy="2514240"/>
          </a:xfrm>
          <a:prstGeom prst="roundRect">
            <a:avLst>
              <a:gd name="adj" fmla="val 9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4" name="Rounded Rectangle 8"/>
          <p:cNvSpPr/>
          <p:nvPr/>
        </p:nvSpPr>
        <p:spPr>
          <a:xfrm>
            <a:off x="640080" y="3337560"/>
            <a:ext cx="2610360" cy="566640"/>
          </a:xfrm>
          <a:prstGeom prst="roundRect">
            <a:avLst>
              <a:gd name="adj" fmla="val 3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5" name="Rectangle 9"/>
          <p:cNvSpPr/>
          <p:nvPr/>
        </p:nvSpPr>
        <p:spPr>
          <a:xfrm>
            <a:off x="640080" y="3620880"/>
            <a:ext cx="2610360" cy="28296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6" name="TextBox 10"/>
          <p:cNvSpPr/>
          <p:nvPr/>
        </p:nvSpPr>
        <p:spPr>
          <a:xfrm>
            <a:off x="640080" y="3337560"/>
            <a:ext cx="261036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500" b="1" u="none" strike="noStrike">
                <a:solidFill>
                  <a:srgbClr val="FFFFFF"/>
                </a:solidFill>
                <a:effectLst/>
                <a:uFillTx/>
                <a:latin typeface="Cambria"/>
              </a:rPr>
              <a:t>OE1–OE2</a:t>
            </a:r>
            <a:endParaRPr lang="es-ES" sz="1500" b="0" u="none" strike="noStrike">
              <a:solidFill>
                <a:srgbClr val="000000"/>
              </a:solidFill>
              <a:effectLst/>
              <a:uFillTx/>
              <a:latin typeface="Arial"/>
            </a:endParaRPr>
          </a:p>
        </p:txBody>
      </p:sp>
      <p:sp>
        <p:nvSpPr>
          <p:cNvPr id="137" name="TextBox 11"/>
          <p:cNvSpPr/>
          <p:nvPr/>
        </p:nvSpPr>
        <p:spPr>
          <a:xfrm>
            <a:off x="786240" y="4050720"/>
            <a:ext cx="2317680" cy="4568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50" b="1" u="none" strike="noStrike">
                <a:solidFill>
                  <a:srgbClr val="11243A"/>
                </a:solidFill>
                <a:effectLst/>
                <a:uFillTx/>
                <a:latin typeface="Calibri"/>
              </a:rPr>
              <a:t>Análisis</a:t>
            </a:r>
            <a:endParaRPr lang="es-ES" sz="1350" b="0" u="none" strike="noStrike">
              <a:solidFill>
                <a:srgbClr val="000000"/>
              </a:solidFill>
              <a:effectLst/>
              <a:uFillTx/>
              <a:latin typeface="Arial"/>
            </a:endParaRPr>
          </a:p>
        </p:txBody>
      </p:sp>
      <p:sp>
        <p:nvSpPr>
          <p:cNvPr id="138" name="TextBox 12"/>
          <p:cNvSpPr/>
          <p:nvPr/>
        </p:nvSpPr>
        <p:spPr>
          <a:xfrm>
            <a:off x="786240" y="4489560"/>
            <a:ext cx="2317680" cy="123408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80" b="0" u="none" strike="noStrike">
                <a:solidFill>
                  <a:srgbClr val="5B6B7A"/>
                </a:solidFill>
                <a:effectLst/>
                <a:uFillTx/>
                <a:latin typeface="Calibri"/>
              </a:rPr>
              <a:t>Analizar el ecosistema CVN y estudiar alternativas de representación y validación de datos curriculares.</a:t>
            </a:r>
            <a:endParaRPr lang="es-ES" sz="1080" b="0" u="none" strike="noStrike">
              <a:solidFill>
                <a:srgbClr val="000000"/>
              </a:solidFill>
              <a:effectLst/>
              <a:uFillTx/>
              <a:latin typeface="Arial"/>
            </a:endParaRPr>
          </a:p>
        </p:txBody>
      </p:sp>
      <p:sp>
        <p:nvSpPr>
          <p:cNvPr id="139" name="Rounded Rectangle 13"/>
          <p:cNvSpPr/>
          <p:nvPr/>
        </p:nvSpPr>
        <p:spPr>
          <a:xfrm>
            <a:off x="3396960" y="3337560"/>
            <a:ext cx="2610360" cy="2514240"/>
          </a:xfrm>
          <a:prstGeom prst="roundRect">
            <a:avLst>
              <a:gd name="adj" fmla="val 9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0" name="Rounded Rectangle 14"/>
          <p:cNvSpPr/>
          <p:nvPr/>
        </p:nvSpPr>
        <p:spPr>
          <a:xfrm>
            <a:off x="3396960" y="3337560"/>
            <a:ext cx="2610360" cy="566640"/>
          </a:xfrm>
          <a:prstGeom prst="roundRect">
            <a:avLst>
              <a:gd name="adj" fmla="val 3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1" name="Rectangle 15"/>
          <p:cNvSpPr/>
          <p:nvPr/>
        </p:nvSpPr>
        <p:spPr>
          <a:xfrm>
            <a:off x="3396960" y="3620880"/>
            <a:ext cx="2610360" cy="28296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2" name="TextBox 16"/>
          <p:cNvSpPr/>
          <p:nvPr/>
        </p:nvSpPr>
        <p:spPr>
          <a:xfrm>
            <a:off x="3396960" y="3337560"/>
            <a:ext cx="261036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500" b="1" u="none" strike="noStrike">
                <a:solidFill>
                  <a:srgbClr val="FFFFFF"/>
                </a:solidFill>
                <a:effectLst/>
                <a:uFillTx/>
                <a:latin typeface="Cambria"/>
              </a:rPr>
              <a:t>OE3–OE6</a:t>
            </a:r>
            <a:endParaRPr lang="es-ES" sz="1500" b="0" u="none" strike="noStrike">
              <a:solidFill>
                <a:srgbClr val="000000"/>
              </a:solidFill>
              <a:effectLst/>
              <a:uFillTx/>
              <a:latin typeface="Arial"/>
            </a:endParaRPr>
          </a:p>
        </p:txBody>
      </p:sp>
      <p:sp>
        <p:nvSpPr>
          <p:cNvPr id="143" name="TextBox 17"/>
          <p:cNvSpPr/>
          <p:nvPr/>
        </p:nvSpPr>
        <p:spPr>
          <a:xfrm>
            <a:off x="3543480" y="4050720"/>
            <a:ext cx="2317680" cy="4568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50" b="1" u="none" strike="noStrike">
                <a:solidFill>
                  <a:srgbClr val="11243A"/>
                </a:solidFill>
                <a:effectLst/>
                <a:uFillTx/>
                <a:latin typeface="Calibri"/>
              </a:rPr>
              <a:t>Generación y normalización</a:t>
            </a:r>
            <a:endParaRPr lang="es-ES" sz="1350" b="0" u="none" strike="noStrike">
              <a:solidFill>
                <a:srgbClr val="000000"/>
              </a:solidFill>
              <a:effectLst/>
              <a:uFillTx/>
              <a:latin typeface="Arial"/>
            </a:endParaRPr>
          </a:p>
        </p:txBody>
      </p:sp>
      <p:sp>
        <p:nvSpPr>
          <p:cNvPr id="144" name="TextBox 18"/>
          <p:cNvSpPr/>
          <p:nvPr/>
        </p:nvSpPr>
        <p:spPr>
          <a:xfrm>
            <a:off x="3543480" y="4489560"/>
            <a:ext cx="2317680" cy="123408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80" b="0" u="none" strike="noStrike">
                <a:solidFill>
                  <a:srgbClr val="5B6B7A"/>
                </a:solidFill>
                <a:effectLst/>
                <a:uFillTx/>
                <a:latin typeface="Calibri"/>
              </a:rPr>
              <a:t>Generar la capa estructural desde los XSD, normalizar metadatos, definir reglas semánticas y modelos de dominio.</a:t>
            </a:r>
            <a:endParaRPr lang="es-ES" sz="1080" b="0" u="none" strike="noStrike">
              <a:solidFill>
                <a:srgbClr val="000000"/>
              </a:solidFill>
              <a:effectLst/>
              <a:uFillTx/>
              <a:latin typeface="Arial"/>
            </a:endParaRPr>
          </a:p>
        </p:txBody>
      </p:sp>
      <p:sp>
        <p:nvSpPr>
          <p:cNvPr id="145" name="Rounded Rectangle 19"/>
          <p:cNvSpPr/>
          <p:nvPr/>
        </p:nvSpPr>
        <p:spPr>
          <a:xfrm>
            <a:off x="6153840" y="3337560"/>
            <a:ext cx="2610360" cy="2514240"/>
          </a:xfrm>
          <a:prstGeom prst="roundRect">
            <a:avLst>
              <a:gd name="adj" fmla="val 9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6" name="Rounded Rectangle 20"/>
          <p:cNvSpPr/>
          <p:nvPr/>
        </p:nvSpPr>
        <p:spPr>
          <a:xfrm>
            <a:off x="6153840" y="3337560"/>
            <a:ext cx="2610360" cy="566640"/>
          </a:xfrm>
          <a:prstGeom prst="roundRect">
            <a:avLst>
              <a:gd name="adj" fmla="val 3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7" name="Rectangle 21"/>
          <p:cNvSpPr/>
          <p:nvPr/>
        </p:nvSpPr>
        <p:spPr>
          <a:xfrm>
            <a:off x="6153840" y="3620880"/>
            <a:ext cx="2610360" cy="28296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8" name="TextBox 22"/>
          <p:cNvSpPr/>
          <p:nvPr/>
        </p:nvSpPr>
        <p:spPr>
          <a:xfrm>
            <a:off x="6153840" y="3337560"/>
            <a:ext cx="261036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500" b="1" u="none" strike="noStrike">
                <a:solidFill>
                  <a:srgbClr val="FFFFFF"/>
                </a:solidFill>
                <a:effectLst/>
                <a:uFillTx/>
                <a:latin typeface="Cambria"/>
              </a:rPr>
              <a:t>OE7–OE9</a:t>
            </a:r>
            <a:endParaRPr lang="es-ES" sz="1500" b="0" u="none" strike="noStrike">
              <a:solidFill>
                <a:srgbClr val="000000"/>
              </a:solidFill>
              <a:effectLst/>
              <a:uFillTx/>
              <a:latin typeface="Arial"/>
            </a:endParaRPr>
          </a:p>
        </p:txBody>
      </p:sp>
      <p:sp>
        <p:nvSpPr>
          <p:cNvPr id="149" name="TextBox 23"/>
          <p:cNvSpPr/>
          <p:nvPr/>
        </p:nvSpPr>
        <p:spPr>
          <a:xfrm>
            <a:off x="6300360" y="4050720"/>
            <a:ext cx="2317680" cy="4568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50" b="1" u="none" strike="noStrike">
                <a:solidFill>
                  <a:srgbClr val="11243A"/>
                </a:solidFill>
                <a:effectLst/>
                <a:uFillTx/>
                <a:latin typeface="Calibri"/>
              </a:rPr>
              <a:t>Formato y herramienta</a:t>
            </a:r>
            <a:endParaRPr lang="es-ES" sz="1350" b="0" u="none" strike="noStrike">
              <a:solidFill>
                <a:srgbClr val="000000"/>
              </a:solidFill>
              <a:effectLst/>
              <a:uFillTx/>
              <a:latin typeface="Arial"/>
            </a:endParaRPr>
          </a:p>
        </p:txBody>
      </p:sp>
      <p:sp>
        <p:nvSpPr>
          <p:cNvPr id="150" name="TextBox 24"/>
          <p:cNvSpPr/>
          <p:nvPr/>
        </p:nvSpPr>
        <p:spPr>
          <a:xfrm>
            <a:off x="6300360" y="4489560"/>
            <a:ext cx="2317680" cy="123408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80" b="0" u="none" strike="noStrike">
                <a:solidFill>
                  <a:srgbClr val="5B6B7A"/>
                </a:solidFill>
                <a:effectLst/>
                <a:uFillTx/>
                <a:latin typeface="Calibri"/>
              </a:rPr>
              <a:t>Definir el formato Open CVN JSON e implementar parseo, validación, almacenamiento, exportación e importación.</a:t>
            </a:r>
            <a:endParaRPr lang="es-ES" sz="1080" b="0" u="none" strike="noStrike">
              <a:solidFill>
                <a:srgbClr val="000000"/>
              </a:solidFill>
              <a:effectLst/>
              <a:uFillTx/>
              <a:latin typeface="Arial"/>
            </a:endParaRPr>
          </a:p>
        </p:txBody>
      </p:sp>
      <p:sp>
        <p:nvSpPr>
          <p:cNvPr id="151" name="Rounded Rectangle 25"/>
          <p:cNvSpPr/>
          <p:nvPr/>
        </p:nvSpPr>
        <p:spPr>
          <a:xfrm>
            <a:off x="8910720" y="3337560"/>
            <a:ext cx="2610360" cy="2514240"/>
          </a:xfrm>
          <a:prstGeom prst="roundRect">
            <a:avLst>
              <a:gd name="adj" fmla="val 9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2" name="Rounded Rectangle 26"/>
          <p:cNvSpPr/>
          <p:nvPr/>
        </p:nvSpPr>
        <p:spPr>
          <a:xfrm>
            <a:off x="8910720" y="3337560"/>
            <a:ext cx="2610360" cy="566640"/>
          </a:xfrm>
          <a:prstGeom prst="roundRect">
            <a:avLst>
              <a:gd name="adj" fmla="val 3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3" name="Rectangle 27"/>
          <p:cNvSpPr/>
          <p:nvPr/>
        </p:nvSpPr>
        <p:spPr>
          <a:xfrm>
            <a:off x="8910720" y="3620880"/>
            <a:ext cx="2610360" cy="28296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4" name="TextBox 28"/>
          <p:cNvSpPr/>
          <p:nvPr/>
        </p:nvSpPr>
        <p:spPr>
          <a:xfrm>
            <a:off x="8910720" y="3337560"/>
            <a:ext cx="261036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500" b="1" u="none" strike="noStrike">
                <a:solidFill>
                  <a:srgbClr val="FFFFFF"/>
                </a:solidFill>
                <a:effectLst/>
                <a:uFillTx/>
                <a:latin typeface="Cambria"/>
              </a:rPr>
              <a:t>OE10</a:t>
            </a:r>
            <a:endParaRPr lang="es-ES" sz="1500" b="0" u="none" strike="noStrike">
              <a:solidFill>
                <a:srgbClr val="000000"/>
              </a:solidFill>
              <a:effectLst/>
              <a:uFillTx/>
              <a:latin typeface="Arial"/>
            </a:endParaRPr>
          </a:p>
        </p:txBody>
      </p:sp>
      <p:sp>
        <p:nvSpPr>
          <p:cNvPr id="155" name="TextBox 29"/>
          <p:cNvSpPr/>
          <p:nvPr/>
        </p:nvSpPr>
        <p:spPr>
          <a:xfrm>
            <a:off x="9057240" y="4050720"/>
            <a:ext cx="2317680" cy="4568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50" b="1" u="none" strike="noStrike">
                <a:solidFill>
                  <a:srgbClr val="11243A"/>
                </a:solidFill>
                <a:effectLst/>
                <a:uFillTx/>
                <a:latin typeface="Calibri"/>
              </a:rPr>
              <a:t>Verificación</a:t>
            </a:r>
            <a:endParaRPr lang="es-ES" sz="1350" b="0" u="none" strike="noStrike">
              <a:solidFill>
                <a:srgbClr val="000000"/>
              </a:solidFill>
              <a:effectLst/>
              <a:uFillTx/>
              <a:latin typeface="Arial"/>
            </a:endParaRPr>
          </a:p>
        </p:txBody>
      </p:sp>
      <p:sp>
        <p:nvSpPr>
          <p:cNvPr id="156" name="TextBox 30"/>
          <p:cNvSpPr/>
          <p:nvPr/>
        </p:nvSpPr>
        <p:spPr>
          <a:xfrm>
            <a:off x="9057240" y="4489560"/>
            <a:ext cx="2317680" cy="123408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80" b="0" u="none" strike="noStrike">
                <a:solidFill>
                  <a:srgbClr val="5B6B7A"/>
                </a:solidFill>
                <a:effectLst/>
                <a:uFillTx/>
                <a:latin typeface="Calibri"/>
              </a:rPr>
              <a:t>Verificar el sistema mediante pruebas automatizadas y flujos reproducibles de extremo a extremo.</a:t>
            </a:r>
            <a:endParaRPr lang="es-ES" sz="1080" b="0" u="none" strike="noStrike">
              <a:solidFill>
                <a:srgbClr val="000000"/>
              </a:solidFill>
              <a:effectLst/>
              <a:uFillTx/>
              <a:latin typeface="Arial"/>
            </a:endParaRPr>
          </a:p>
        </p:txBody>
      </p:sp>
      <p:sp>
        <p:nvSpPr>
          <p:cNvPr id="157" name="TextBox 31"/>
          <p:cNvSpPr/>
          <p:nvPr/>
        </p:nvSpPr>
        <p:spPr>
          <a:xfrm>
            <a:off x="640080" y="6053400"/>
            <a:ext cx="10881000" cy="4568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200" b="0" i="1" u="none" strike="noStrike">
                <a:solidFill>
                  <a:srgbClr val="5B6B7A"/>
                </a:solidFill>
                <a:effectLst/>
                <a:uFillTx/>
                <a:latin typeface="Calibri"/>
              </a:rPr>
              <a:t>10 objetivos específicos, organizados en cuatro bloques alineados con los capítulos 3 a 7 de la memoria.</a:t>
            </a:r>
            <a:endParaRPr lang="es-E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9"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3 · EL ECOSISTEMA CVN</a:t>
            </a:r>
            <a:endParaRPr lang="es-ES" sz="1300" b="0" u="none" strike="noStrike">
              <a:solidFill>
                <a:srgbClr val="000000"/>
              </a:solidFill>
              <a:effectLst/>
              <a:uFillTx/>
              <a:latin typeface="Arial"/>
            </a:endParaRPr>
          </a:p>
        </p:txBody>
      </p:sp>
      <p:sp>
        <p:nvSpPr>
          <p:cNvPr id="160"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El paquete oficial no es directamente un modelo interno</a:t>
            </a:r>
            <a:endParaRPr lang="es-ES" sz="3000" b="0" u="none" strike="noStrike">
              <a:solidFill>
                <a:srgbClr val="000000"/>
              </a:solidFill>
              <a:effectLst/>
              <a:uFillTx/>
              <a:latin typeface="Arial"/>
            </a:endParaRPr>
          </a:p>
        </p:txBody>
      </p:sp>
      <p:graphicFrame>
        <p:nvGraphicFramePr>
          <p:cNvPr id="161" name="Table 4"/>
          <p:cNvGraphicFramePr/>
          <p:nvPr/>
        </p:nvGraphicFramePr>
        <p:xfrm>
          <a:off x="640080" y="1783080"/>
          <a:ext cx="10881000" cy="4160160"/>
        </p:xfrm>
        <a:graphic>
          <a:graphicData uri="http://schemas.openxmlformats.org/drawingml/2006/table">
            <a:tbl>
              <a:tblPr/>
              <a:tblGrid>
                <a:gridCol w="5074920"/>
                <a:gridCol w="5806440"/>
              </a:tblGrid>
              <a:tr h="831960">
                <a:tc>
                  <a:txBody>
                    <a:bodyPr lIns="82080" tIns="41040" rIns="82080" bIns="41040" anchor="ctr">
                      <a:noAutofit/>
                    </a:bodyPr>
                    <a:p>
                      <a:pPr defTabSz="457200">
                        <a:lnSpc>
                          <a:spcPct val="100000"/>
                        </a:lnSpc>
                      </a:pPr>
                      <a:r>
                        <a:rPr lang="en-US" sz="1350" b="1" u="none" strike="noStrike">
                          <a:solidFill>
                            <a:srgbClr val="FFFFFF"/>
                          </a:solidFill>
                          <a:effectLst/>
                          <a:uFillTx/>
                          <a:latin typeface="Calibri"/>
                        </a:rPr>
                        <a:t>Limitación detectada</a:t>
                      </a:r>
                      <a:endParaRPr lang="es-ES" sz="135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c>
                  <a:txBody>
                    <a:bodyPr lIns="82080" tIns="41040" rIns="82080" bIns="41040" anchor="ctr">
                      <a:noAutofit/>
                    </a:bodyPr>
                    <a:p>
                      <a:pPr defTabSz="457200">
                        <a:lnSpc>
                          <a:spcPct val="100000"/>
                        </a:lnSpc>
                      </a:pPr>
                      <a:r>
                        <a:rPr lang="en-US" sz="1350" b="1" u="none" strike="noStrike">
                          <a:solidFill>
                            <a:srgbClr val="FFFFFF"/>
                          </a:solidFill>
                          <a:effectLst/>
                          <a:uFillTx/>
                          <a:latin typeface="Calibri"/>
                        </a:rPr>
                        <a:t>Respuesta de diseño de Open CVN</a:t>
                      </a:r>
                      <a:endParaRPr lang="es-ES" sz="135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r>
              <a:tr h="83196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Discrepancias puntuales entre el XML canónico y su esquema de validación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Tratar el XML como evidencia de origen y registrar la discrepancia de forma explícita</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3196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Construcciones XSD que no se trasladan de forma perfecta a estructuras ejecutables (choice, cardinalidades, tipos genéricos)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Confinar estas limitaciones a la capa estructural generada, sin exponerlas en el formato final</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83196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Tablas auxiliares que no siempre son enumeraciones cerradas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Evaluar la elegibilidad de enumeración cerrada a partir de evidencia concreta de cada tabla</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3196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Referencias sin tabla equivalente y deriva de empaquetado entre familias auxiliares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Conservar como no resueltas o parcialmente trazables, sin forzar una conversión con pérdida de información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bl>
          </a:graphicData>
        </a:graphic>
      </p:graphicFrame>
      <p:sp>
        <p:nvSpPr>
          <p:cNvPr id="162" name="TextBox 5"/>
          <p:cNvSpPr/>
          <p:nvPr/>
        </p:nvSpPr>
        <p:spPr>
          <a:xfrm>
            <a:off x="640080" y="6108120"/>
            <a:ext cx="10881000" cy="411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0" i="1" u="none" strike="noStrike">
                <a:solidFill>
                  <a:srgbClr val="5B6B7A"/>
                </a:solidFill>
                <a:effectLst/>
                <a:uFillTx/>
                <a:latin typeface="Calibri"/>
              </a:rPr>
              <a:t>Ninguna limitación invalida la norma CVN: condicionan su uso directo como modelo interno de una herramienta.</a:t>
            </a:r>
            <a:endParaRPr lang="es-E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4"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3 · EL ECOSISTEMA CVN</a:t>
            </a:r>
            <a:endParaRPr lang="es-ES" sz="1300" b="0" u="none" strike="noStrike">
              <a:solidFill>
                <a:srgbClr val="000000"/>
              </a:solidFill>
              <a:effectLst/>
              <a:uFillTx/>
              <a:latin typeface="Arial"/>
            </a:endParaRPr>
          </a:p>
        </p:txBody>
      </p:sp>
      <p:sp>
        <p:nvSpPr>
          <p:cNvPr id="165"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Open CVN: una capa trazable sobre el paquete oficial</a:t>
            </a:r>
            <a:endParaRPr lang="es-ES" sz="3000" b="0" u="none" strike="noStrike">
              <a:solidFill>
                <a:srgbClr val="000000"/>
              </a:solidFill>
              <a:effectLst/>
              <a:uFillTx/>
              <a:latin typeface="Arial"/>
            </a:endParaRPr>
          </a:p>
        </p:txBody>
      </p:sp>
      <p:pic>
        <p:nvPicPr>
          <p:cNvPr id="166" name="Picture 4" descr="open_cvn_source_separation.png"/>
          <p:cNvPicPr/>
          <p:nvPr/>
        </p:nvPicPr>
        <p:blipFill>
          <a:blip r:embed="rId1"/>
          <a:stretch/>
        </p:blipFill>
        <p:spPr>
          <a:xfrm>
            <a:off x="2390040" y="1645920"/>
            <a:ext cx="7380720" cy="2331360"/>
          </a:xfrm>
          <a:prstGeom prst="rect">
            <a:avLst/>
          </a:prstGeom>
          <a:noFill/>
          <a:ln w="0">
            <a:noFill/>
          </a:ln>
        </p:spPr>
      </p:pic>
      <p:sp>
        <p:nvSpPr>
          <p:cNvPr id="167" name="Rounded Rectangle 5"/>
          <p:cNvSpPr/>
          <p:nvPr/>
        </p:nvSpPr>
        <p:spPr>
          <a:xfrm>
            <a:off x="640080" y="4160520"/>
            <a:ext cx="1308600" cy="60300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6"/>
          <p:cNvSpPr/>
          <p:nvPr/>
        </p:nvSpPr>
        <p:spPr>
          <a:xfrm>
            <a:off x="676800" y="4160520"/>
            <a:ext cx="1235160" cy="603000"/>
          </a:xfrm>
          <a:prstGeom prst="rect">
            <a:avLst/>
          </a:prstGeom>
          <a:noFill/>
          <a:ln w="0">
            <a:noFill/>
          </a:ln>
        </p:spPr>
        <p:style>
          <a:lnRef idx="0"/>
          <a:fillRef idx="0"/>
          <a:effectRef idx="0"/>
          <a:fontRef idx="minor"/>
        </p:style>
        <p:txBody>
          <a:bodyPr lIns="0" tIns="0" rIns="0" bIns="0" anchor="ctr">
            <a:spAutoFit/>
          </a:bodyPr>
          <a:p>
            <a:pPr algn="ctr" defTabSz="457200">
              <a:lnSpc>
                <a:spcPct val="95000"/>
              </a:lnSpc>
            </a:pPr>
            <a:r>
              <a:rPr lang="en-US" sz="1200" b="1" u="none" strike="noStrike">
                <a:solidFill>
                  <a:srgbClr val="FFFFFF"/>
                </a:solidFill>
                <a:effectLst/>
                <a:uFillTx/>
                <a:latin typeface="Calibri"/>
              </a:rPr>
              <a:t>Paquete CVN</a:t>
            </a:r>
            <a:endParaRPr lang="es-ES" sz="1200" b="0" u="none" strike="noStrike">
              <a:solidFill>
                <a:srgbClr val="000000"/>
              </a:solidFill>
              <a:effectLst/>
              <a:uFillTx/>
              <a:latin typeface="Arial"/>
            </a:endParaRPr>
          </a:p>
        </p:txBody>
      </p:sp>
      <p:sp>
        <p:nvSpPr>
          <p:cNvPr id="169" name="TextBox 7"/>
          <p:cNvSpPr/>
          <p:nvPr/>
        </p:nvSpPr>
        <p:spPr>
          <a:xfrm>
            <a:off x="1949040" y="4160520"/>
            <a:ext cx="310680" cy="60300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600" b="1" u="none" strike="noStrike">
                <a:solidFill>
                  <a:srgbClr val="5B6B7A"/>
                </a:solidFill>
                <a:effectLst/>
                <a:uFillTx/>
                <a:latin typeface="Calibri"/>
              </a:rPr>
              <a:t>→</a:t>
            </a:r>
            <a:endParaRPr lang="es-ES" sz="1600" b="0" u="none" strike="noStrike">
              <a:solidFill>
                <a:srgbClr val="000000"/>
              </a:solidFill>
              <a:effectLst/>
              <a:uFillTx/>
              <a:latin typeface="Arial"/>
            </a:endParaRPr>
          </a:p>
        </p:txBody>
      </p:sp>
      <p:sp>
        <p:nvSpPr>
          <p:cNvPr id="170" name="Rounded Rectangle 8"/>
          <p:cNvSpPr/>
          <p:nvPr/>
        </p:nvSpPr>
        <p:spPr>
          <a:xfrm>
            <a:off x="2259720" y="4160520"/>
            <a:ext cx="2617200" cy="60300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1" name="TextBox 9"/>
          <p:cNvSpPr/>
          <p:nvPr/>
        </p:nvSpPr>
        <p:spPr>
          <a:xfrm>
            <a:off x="2296440" y="4160520"/>
            <a:ext cx="2544120" cy="603000"/>
          </a:xfrm>
          <a:prstGeom prst="rect">
            <a:avLst/>
          </a:prstGeom>
          <a:noFill/>
          <a:ln w="0">
            <a:noFill/>
          </a:ln>
        </p:spPr>
        <p:style>
          <a:lnRef idx="0"/>
          <a:fillRef idx="0"/>
          <a:effectRef idx="0"/>
          <a:fontRef idx="minor"/>
        </p:style>
        <p:txBody>
          <a:bodyPr lIns="0" tIns="0" rIns="0" bIns="0" anchor="ctr">
            <a:spAutoFit/>
          </a:bodyPr>
          <a:p>
            <a:pPr algn="ctr" defTabSz="457200">
              <a:lnSpc>
                <a:spcPct val="95000"/>
              </a:lnSpc>
            </a:pPr>
            <a:r>
              <a:rPr lang="en-US" sz="1200" b="1" u="none" strike="noStrike">
                <a:solidFill>
                  <a:srgbClr val="FFFFFF"/>
                </a:solidFill>
                <a:effectLst/>
                <a:uFillTx/>
                <a:latin typeface="Calibri"/>
              </a:rPr>
              <a:t>Metadatos normalizados</a:t>
            </a:r>
            <a:endParaRPr lang="es-ES" sz="1200" b="0" u="none" strike="noStrike">
              <a:solidFill>
                <a:srgbClr val="000000"/>
              </a:solidFill>
              <a:effectLst/>
              <a:uFillTx/>
              <a:latin typeface="Arial"/>
            </a:endParaRPr>
          </a:p>
        </p:txBody>
      </p:sp>
      <p:sp>
        <p:nvSpPr>
          <p:cNvPr id="172" name="TextBox 10"/>
          <p:cNvSpPr/>
          <p:nvPr/>
        </p:nvSpPr>
        <p:spPr>
          <a:xfrm>
            <a:off x="4877640" y="4160520"/>
            <a:ext cx="310680" cy="60300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600" b="1" u="none" strike="noStrike">
                <a:solidFill>
                  <a:srgbClr val="5B6B7A"/>
                </a:solidFill>
                <a:effectLst/>
                <a:uFillTx/>
                <a:latin typeface="Calibri"/>
              </a:rPr>
              <a:t>→</a:t>
            </a:r>
            <a:endParaRPr lang="es-ES" sz="1600" b="0" u="none" strike="noStrike">
              <a:solidFill>
                <a:srgbClr val="000000"/>
              </a:solidFill>
              <a:effectLst/>
              <a:uFillTx/>
              <a:latin typeface="Arial"/>
            </a:endParaRPr>
          </a:p>
        </p:txBody>
      </p:sp>
      <p:sp>
        <p:nvSpPr>
          <p:cNvPr id="173" name="Rounded Rectangle 11"/>
          <p:cNvSpPr/>
          <p:nvPr/>
        </p:nvSpPr>
        <p:spPr>
          <a:xfrm>
            <a:off x="5188320" y="4160520"/>
            <a:ext cx="2141280" cy="60300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4" name="TextBox 12"/>
          <p:cNvSpPr/>
          <p:nvPr/>
        </p:nvSpPr>
        <p:spPr>
          <a:xfrm>
            <a:off x="5225040" y="4160520"/>
            <a:ext cx="2068200" cy="603000"/>
          </a:xfrm>
          <a:prstGeom prst="rect">
            <a:avLst/>
          </a:prstGeom>
          <a:noFill/>
          <a:ln w="0">
            <a:noFill/>
          </a:ln>
        </p:spPr>
        <p:style>
          <a:lnRef idx="0"/>
          <a:fillRef idx="0"/>
          <a:effectRef idx="0"/>
          <a:fontRef idx="minor"/>
        </p:style>
        <p:txBody>
          <a:bodyPr lIns="0" tIns="0" rIns="0" bIns="0" anchor="ctr">
            <a:spAutoFit/>
          </a:bodyPr>
          <a:p>
            <a:pPr algn="ctr" defTabSz="457200">
              <a:lnSpc>
                <a:spcPct val="95000"/>
              </a:lnSpc>
            </a:pPr>
            <a:r>
              <a:rPr lang="en-US" sz="1200" b="1" u="none" strike="noStrike">
                <a:solidFill>
                  <a:srgbClr val="FFFFFF"/>
                </a:solidFill>
                <a:effectLst/>
                <a:uFillTx/>
                <a:latin typeface="Calibri"/>
              </a:rPr>
              <a:t>Política semántica</a:t>
            </a:r>
            <a:endParaRPr lang="es-ES" sz="1200" b="0" u="none" strike="noStrike">
              <a:solidFill>
                <a:srgbClr val="000000"/>
              </a:solidFill>
              <a:effectLst/>
              <a:uFillTx/>
              <a:latin typeface="Arial"/>
            </a:endParaRPr>
          </a:p>
        </p:txBody>
      </p:sp>
      <p:sp>
        <p:nvSpPr>
          <p:cNvPr id="175" name="TextBox 13"/>
          <p:cNvSpPr/>
          <p:nvPr/>
        </p:nvSpPr>
        <p:spPr>
          <a:xfrm>
            <a:off x="7329960" y="4160520"/>
            <a:ext cx="310680" cy="60300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600" b="1" u="none" strike="noStrike">
                <a:solidFill>
                  <a:srgbClr val="5B6B7A"/>
                </a:solidFill>
                <a:effectLst/>
                <a:uFillTx/>
                <a:latin typeface="Calibri"/>
              </a:rPr>
              <a:t>→</a:t>
            </a:r>
            <a:endParaRPr lang="es-ES" sz="1600" b="0" u="none" strike="noStrike">
              <a:solidFill>
                <a:srgbClr val="000000"/>
              </a:solidFill>
              <a:effectLst/>
              <a:uFillTx/>
              <a:latin typeface="Arial"/>
            </a:endParaRPr>
          </a:p>
        </p:txBody>
      </p:sp>
      <p:sp>
        <p:nvSpPr>
          <p:cNvPr id="176" name="Rounded Rectangle 14"/>
          <p:cNvSpPr/>
          <p:nvPr/>
        </p:nvSpPr>
        <p:spPr>
          <a:xfrm>
            <a:off x="7641000" y="4160520"/>
            <a:ext cx="2022480" cy="60300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7" name="TextBox 15"/>
          <p:cNvSpPr/>
          <p:nvPr/>
        </p:nvSpPr>
        <p:spPr>
          <a:xfrm>
            <a:off x="7677720" y="4160520"/>
            <a:ext cx="1949400" cy="603000"/>
          </a:xfrm>
          <a:prstGeom prst="rect">
            <a:avLst/>
          </a:prstGeom>
          <a:noFill/>
          <a:ln w="0">
            <a:noFill/>
          </a:ln>
        </p:spPr>
        <p:style>
          <a:lnRef idx="0"/>
          <a:fillRef idx="0"/>
          <a:effectRef idx="0"/>
          <a:fontRef idx="minor"/>
        </p:style>
        <p:txBody>
          <a:bodyPr lIns="0" tIns="0" rIns="0" bIns="0" anchor="ctr">
            <a:spAutoFit/>
          </a:bodyPr>
          <a:p>
            <a:pPr algn="ctr" defTabSz="457200">
              <a:lnSpc>
                <a:spcPct val="95000"/>
              </a:lnSpc>
            </a:pPr>
            <a:r>
              <a:rPr lang="en-US" sz="1200" b="1" u="none" strike="noStrike">
                <a:solidFill>
                  <a:srgbClr val="FFFFFF"/>
                </a:solidFill>
                <a:effectLst/>
                <a:uFillTx/>
                <a:latin typeface="Calibri"/>
              </a:rPr>
              <a:t>Modelo conceptual</a:t>
            </a:r>
            <a:endParaRPr lang="es-ES" sz="1200" b="0" u="none" strike="noStrike">
              <a:solidFill>
                <a:srgbClr val="000000"/>
              </a:solidFill>
              <a:effectLst/>
              <a:uFillTx/>
              <a:latin typeface="Arial"/>
            </a:endParaRPr>
          </a:p>
        </p:txBody>
      </p:sp>
      <p:sp>
        <p:nvSpPr>
          <p:cNvPr id="178" name="TextBox 16"/>
          <p:cNvSpPr/>
          <p:nvPr/>
        </p:nvSpPr>
        <p:spPr>
          <a:xfrm>
            <a:off x="9663840" y="4160520"/>
            <a:ext cx="310680" cy="60300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600" b="1" u="none" strike="noStrike">
                <a:solidFill>
                  <a:srgbClr val="5B6B7A"/>
                </a:solidFill>
                <a:effectLst/>
                <a:uFillTx/>
                <a:latin typeface="Calibri"/>
              </a:rPr>
              <a:t>→</a:t>
            </a:r>
            <a:endParaRPr lang="es-ES" sz="1600" b="0" u="none" strike="noStrike">
              <a:solidFill>
                <a:srgbClr val="000000"/>
              </a:solidFill>
              <a:effectLst/>
              <a:uFillTx/>
              <a:latin typeface="Arial"/>
            </a:endParaRPr>
          </a:p>
        </p:txBody>
      </p:sp>
      <p:sp>
        <p:nvSpPr>
          <p:cNvPr id="179" name="Rounded Rectangle 17"/>
          <p:cNvSpPr/>
          <p:nvPr/>
        </p:nvSpPr>
        <p:spPr>
          <a:xfrm>
            <a:off x="9974520" y="4160520"/>
            <a:ext cx="1546560" cy="60300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8"/>
          <p:cNvSpPr/>
          <p:nvPr/>
        </p:nvSpPr>
        <p:spPr>
          <a:xfrm>
            <a:off x="10011240" y="4160520"/>
            <a:ext cx="1473120" cy="603000"/>
          </a:xfrm>
          <a:prstGeom prst="rect">
            <a:avLst/>
          </a:prstGeom>
          <a:noFill/>
          <a:ln w="0">
            <a:noFill/>
          </a:ln>
        </p:spPr>
        <p:style>
          <a:lnRef idx="0"/>
          <a:fillRef idx="0"/>
          <a:effectRef idx="0"/>
          <a:fontRef idx="minor"/>
        </p:style>
        <p:txBody>
          <a:bodyPr lIns="0" tIns="0" rIns="0" bIns="0" anchor="ctr">
            <a:spAutoFit/>
          </a:bodyPr>
          <a:p>
            <a:pPr algn="ctr" defTabSz="457200">
              <a:lnSpc>
                <a:spcPct val="95000"/>
              </a:lnSpc>
            </a:pPr>
            <a:r>
              <a:rPr lang="en-US" sz="1200" b="1" u="none" strike="noStrike">
                <a:solidFill>
                  <a:srgbClr val="FFFFFF"/>
                </a:solidFill>
                <a:effectLst/>
                <a:uFillTx/>
                <a:latin typeface="Calibri"/>
              </a:rPr>
              <a:t>Open CVN JSON</a:t>
            </a:r>
            <a:endParaRPr lang="es-ES" sz="1200" b="0" u="none" strike="noStrike">
              <a:solidFill>
                <a:srgbClr val="000000"/>
              </a:solidFill>
              <a:effectLst/>
              <a:uFillTx/>
              <a:latin typeface="Arial"/>
            </a:endParaRPr>
          </a:p>
        </p:txBody>
      </p:sp>
      <p:sp>
        <p:nvSpPr>
          <p:cNvPr id="181" name="TextBox 19"/>
          <p:cNvSpPr/>
          <p:nvPr/>
        </p:nvSpPr>
        <p:spPr>
          <a:xfrm>
            <a:off x="640080" y="5074920"/>
            <a:ext cx="10881000" cy="822600"/>
          </a:xfrm>
          <a:prstGeom prst="rect">
            <a:avLst/>
          </a:prstGeom>
          <a:noFill/>
          <a:ln w="0">
            <a:noFill/>
          </a:ln>
        </p:spPr>
        <p:style>
          <a:lnRef idx="0"/>
          <a:fillRef idx="0"/>
          <a:effectRef idx="0"/>
          <a:fontRef idx="minor"/>
        </p:style>
        <p:txBody>
          <a:bodyPr lIns="0" tIns="0" rIns="0" bIns="0" anchor="t">
            <a:spAutoFit/>
          </a:bodyPr>
          <a:p>
            <a:pPr algn="ctr" defTabSz="457200">
              <a:lnSpc>
                <a:spcPct val="115000"/>
              </a:lnSpc>
            </a:pPr>
            <a:r>
              <a:rPr lang="en-US" sz="1400" b="0" i="1" u="none" strike="noStrike">
                <a:solidFill>
                  <a:srgbClr val="5B6B7A"/>
                </a:solidFill>
                <a:effectLst/>
                <a:uFillTx/>
                <a:latin typeface="Calibri"/>
              </a:rPr>
              <a:t>Cada capa añade una interpretación adicional sin descartar la relación con el paquete oficial: todo elemento del modelo final conserva evidencia verificable de la fuente CVN de la que procede.</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4 · METODOLOGÍA Y ARQUITECTURA</a:t>
            </a:r>
            <a:endParaRPr lang="es-ES" sz="1300" b="0" u="none" strike="noStrike">
              <a:solidFill>
                <a:srgbClr val="000000"/>
              </a:solidFill>
              <a:effectLst/>
              <a:uFillTx/>
              <a:latin typeface="Arial"/>
            </a:endParaRPr>
          </a:p>
        </p:txBody>
      </p:sp>
      <p:sp>
        <p:nvSpPr>
          <p:cNvPr id="184"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Cinco fases, con documentación continua de decisiones</a:t>
            </a:r>
            <a:endParaRPr lang="es-ES" sz="3000" b="0" u="none" strike="noStrike">
              <a:solidFill>
                <a:srgbClr val="000000"/>
              </a:solidFill>
              <a:effectLst/>
              <a:uFillTx/>
              <a:latin typeface="Arial"/>
            </a:endParaRPr>
          </a:p>
        </p:txBody>
      </p:sp>
      <p:sp>
        <p:nvSpPr>
          <p:cNvPr id="185" name="Rectangle 4"/>
          <p:cNvSpPr/>
          <p:nvPr/>
        </p:nvSpPr>
        <p:spPr>
          <a:xfrm>
            <a:off x="1051560" y="2110320"/>
            <a:ext cx="10103760" cy="27000"/>
          </a:xfrm>
          <a:prstGeom prst="rect">
            <a:avLst/>
          </a:prstGeom>
          <a:solidFill>
            <a:srgbClr val="D8E2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186" name="Oval 5"/>
          <p:cNvSpPr/>
          <p:nvPr/>
        </p:nvSpPr>
        <p:spPr>
          <a:xfrm>
            <a:off x="795600" y="1865520"/>
            <a:ext cx="511560" cy="51156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1</a:t>
            </a:r>
            <a:endParaRPr lang="es-ES" sz="1500" b="0" u="none" strike="noStrike">
              <a:solidFill>
                <a:srgbClr val="FFFFFF"/>
              </a:solidFill>
              <a:effectLst/>
              <a:uFillTx/>
              <a:latin typeface="Arial"/>
            </a:endParaRPr>
          </a:p>
        </p:txBody>
      </p:sp>
      <p:sp>
        <p:nvSpPr>
          <p:cNvPr id="187" name="TextBox 6"/>
          <p:cNvSpPr/>
          <p:nvPr/>
        </p:nvSpPr>
        <p:spPr>
          <a:xfrm>
            <a:off x="182880" y="2505600"/>
            <a:ext cx="1737000" cy="5940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162230"/>
                </a:solidFill>
                <a:effectLst/>
                <a:uFillTx/>
                <a:latin typeface="Calibri"/>
              </a:rPr>
              <a:t>Análisis</a:t>
            </a:r>
            <a:endParaRPr lang="es-ES" sz="1150" b="0" u="none" strike="noStrike">
              <a:solidFill>
                <a:srgbClr val="000000"/>
              </a:solidFill>
              <a:effectLst/>
              <a:uFillTx/>
              <a:latin typeface="Arial"/>
            </a:endParaRPr>
          </a:p>
          <a:p>
            <a:pPr algn="ctr" defTabSz="457200">
              <a:lnSpc>
                <a:spcPct val="100000"/>
              </a:lnSpc>
            </a:pPr>
            <a:r>
              <a:rPr lang="en-US" sz="1150" b="1" u="none" strike="noStrike">
                <a:solidFill>
                  <a:srgbClr val="162230"/>
                </a:solidFill>
                <a:effectLst/>
                <a:uFillTx/>
                <a:latin typeface="Calibri"/>
              </a:rPr>
              <a:t>inicial</a:t>
            </a:r>
            <a:endParaRPr lang="es-ES" sz="1150" b="0" u="none" strike="noStrike">
              <a:solidFill>
                <a:srgbClr val="000000"/>
              </a:solidFill>
              <a:effectLst/>
              <a:uFillTx/>
              <a:latin typeface="Arial"/>
            </a:endParaRPr>
          </a:p>
        </p:txBody>
      </p:sp>
      <p:sp>
        <p:nvSpPr>
          <p:cNvPr id="188" name="Oval 7"/>
          <p:cNvSpPr/>
          <p:nvPr/>
        </p:nvSpPr>
        <p:spPr>
          <a:xfrm>
            <a:off x="3321720" y="1865520"/>
            <a:ext cx="511560" cy="511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2</a:t>
            </a:r>
            <a:endParaRPr lang="es-ES" sz="1500" b="0" u="none" strike="noStrike">
              <a:solidFill>
                <a:srgbClr val="FFFFFF"/>
              </a:solidFill>
              <a:effectLst/>
              <a:uFillTx/>
              <a:latin typeface="Arial"/>
            </a:endParaRPr>
          </a:p>
        </p:txBody>
      </p:sp>
      <p:sp>
        <p:nvSpPr>
          <p:cNvPr id="189" name="TextBox 8"/>
          <p:cNvSpPr/>
          <p:nvPr/>
        </p:nvSpPr>
        <p:spPr>
          <a:xfrm>
            <a:off x="2709000" y="2505600"/>
            <a:ext cx="1737000" cy="5940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162230"/>
                </a:solidFill>
                <a:effectLst/>
                <a:uFillTx/>
                <a:latin typeface="Calibri"/>
              </a:rPr>
              <a:t>Exploración de</a:t>
            </a:r>
            <a:endParaRPr lang="es-ES" sz="1150" b="0" u="none" strike="noStrike">
              <a:solidFill>
                <a:srgbClr val="000000"/>
              </a:solidFill>
              <a:effectLst/>
              <a:uFillTx/>
              <a:latin typeface="Arial"/>
            </a:endParaRPr>
          </a:p>
          <a:p>
            <a:pPr algn="ctr" defTabSz="457200">
              <a:lnSpc>
                <a:spcPct val="100000"/>
              </a:lnSpc>
            </a:pPr>
            <a:r>
              <a:rPr lang="en-US" sz="1150" b="1" u="none" strike="noStrike">
                <a:solidFill>
                  <a:srgbClr val="162230"/>
                </a:solidFill>
                <a:effectLst/>
                <a:uFillTx/>
                <a:latin typeface="Calibri"/>
              </a:rPr>
              <a:t>artefactos</a:t>
            </a:r>
            <a:endParaRPr lang="es-ES" sz="1150" b="0" u="none" strike="noStrike">
              <a:solidFill>
                <a:srgbClr val="000000"/>
              </a:solidFill>
              <a:effectLst/>
              <a:uFillTx/>
              <a:latin typeface="Arial"/>
            </a:endParaRPr>
          </a:p>
        </p:txBody>
      </p:sp>
      <p:sp>
        <p:nvSpPr>
          <p:cNvPr id="190" name="Oval 9"/>
          <p:cNvSpPr/>
          <p:nvPr/>
        </p:nvSpPr>
        <p:spPr>
          <a:xfrm>
            <a:off x="5847480" y="1865520"/>
            <a:ext cx="511560" cy="51156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3</a:t>
            </a:r>
            <a:endParaRPr lang="es-ES" sz="1500" b="0" u="none" strike="noStrike">
              <a:solidFill>
                <a:srgbClr val="FFFFFF"/>
              </a:solidFill>
              <a:effectLst/>
              <a:uFillTx/>
              <a:latin typeface="Arial"/>
            </a:endParaRPr>
          </a:p>
        </p:txBody>
      </p:sp>
      <p:sp>
        <p:nvSpPr>
          <p:cNvPr id="191" name="TextBox 10"/>
          <p:cNvSpPr/>
          <p:nvPr/>
        </p:nvSpPr>
        <p:spPr>
          <a:xfrm>
            <a:off x="5234760" y="2505600"/>
            <a:ext cx="1737000" cy="5940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162230"/>
                </a:solidFill>
                <a:effectLst/>
                <a:uFillTx/>
                <a:latin typeface="Calibri"/>
              </a:rPr>
              <a:t>Diseño incremental</a:t>
            </a:r>
            <a:endParaRPr lang="es-ES" sz="1150" b="0" u="none" strike="noStrike">
              <a:solidFill>
                <a:srgbClr val="000000"/>
              </a:solidFill>
              <a:effectLst/>
              <a:uFillTx/>
              <a:latin typeface="Arial"/>
            </a:endParaRPr>
          </a:p>
          <a:p>
            <a:pPr algn="ctr" defTabSz="457200">
              <a:lnSpc>
                <a:spcPct val="100000"/>
              </a:lnSpc>
            </a:pPr>
            <a:r>
              <a:rPr lang="en-US" sz="1150" b="1" u="none" strike="noStrike">
                <a:solidFill>
                  <a:srgbClr val="162230"/>
                </a:solidFill>
                <a:effectLst/>
                <a:uFillTx/>
                <a:latin typeface="Calibri"/>
              </a:rPr>
              <a:t>por capas</a:t>
            </a:r>
            <a:endParaRPr lang="es-ES" sz="1150" b="0" u="none" strike="noStrike">
              <a:solidFill>
                <a:srgbClr val="000000"/>
              </a:solidFill>
              <a:effectLst/>
              <a:uFillTx/>
              <a:latin typeface="Arial"/>
            </a:endParaRPr>
          </a:p>
        </p:txBody>
      </p:sp>
      <p:sp>
        <p:nvSpPr>
          <p:cNvPr id="192" name="Oval 11"/>
          <p:cNvSpPr/>
          <p:nvPr/>
        </p:nvSpPr>
        <p:spPr>
          <a:xfrm>
            <a:off x="8373600" y="1865520"/>
            <a:ext cx="511560" cy="511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4</a:t>
            </a:r>
            <a:endParaRPr lang="es-ES" sz="1500" b="0" u="none" strike="noStrike">
              <a:solidFill>
                <a:srgbClr val="FFFFFF"/>
              </a:solidFill>
              <a:effectLst/>
              <a:uFillTx/>
              <a:latin typeface="Arial"/>
            </a:endParaRPr>
          </a:p>
        </p:txBody>
      </p:sp>
      <p:sp>
        <p:nvSpPr>
          <p:cNvPr id="193" name="TextBox 12"/>
          <p:cNvSpPr/>
          <p:nvPr/>
        </p:nvSpPr>
        <p:spPr>
          <a:xfrm>
            <a:off x="7760880" y="2505600"/>
            <a:ext cx="1737000" cy="5940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162230"/>
                </a:solidFill>
                <a:effectLst/>
                <a:uFillTx/>
                <a:latin typeface="Calibri"/>
              </a:rPr>
              <a:t>Implementación</a:t>
            </a:r>
            <a:endParaRPr lang="es-ES" sz="1150" b="0" u="none" strike="noStrike">
              <a:solidFill>
                <a:srgbClr val="000000"/>
              </a:solidFill>
              <a:effectLst/>
              <a:uFillTx/>
              <a:latin typeface="Arial"/>
            </a:endParaRPr>
          </a:p>
          <a:p>
            <a:pPr algn="ctr" defTabSz="457200">
              <a:lnSpc>
                <a:spcPct val="100000"/>
              </a:lnSpc>
            </a:pPr>
            <a:r>
              <a:rPr lang="en-US" sz="1150" b="1" u="none" strike="noStrike">
                <a:solidFill>
                  <a:srgbClr val="162230"/>
                </a:solidFill>
                <a:effectLst/>
                <a:uFillTx/>
                <a:latin typeface="Calibri"/>
              </a:rPr>
              <a:t>reproducible</a:t>
            </a:r>
            <a:endParaRPr lang="es-ES" sz="1150" b="0" u="none" strike="noStrike">
              <a:solidFill>
                <a:srgbClr val="000000"/>
              </a:solidFill>
              <a:effectLst/>
              <a:uFillTx/>
              <a:latin typeface="Arial"/>
            </a:endParaRPr>
          </a:p>
        </p:txBody>
      </p:sp>
      <p:sp>
        <p:nvSpPr>
          <p:cNvPr id="194" name="Oval 13"/>
          <p:cNvSpPr/>
          <p:nvPr/>
        </p:nvSpPr>
        <p:spPr>
          <a:xfrm>
            <a:off x="10899720" y="1865520"/>
            <a:ext cx="511560" cy="51156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5</a:t>
            </a:r>
            <a:endParaRPr lang="es-ES" sz="1500" b="0" u="none" strike="noStrike">
              <a:solidFill>
                <a:srgbClr val="FFFFFF"/>
              </a:solidFill>
              <a:effectLst/>
              <a:uFillTx/>
              <a:latin typeface="Arial"/>
            </a:endParaRPr>
          </a:p>
        </p:txBody>
      </p:sp>
      <p:sp>
        <p:nvSpPr>
          <p:cNvPr id="195" name="TextBox 14"/>
          <p:cNvSpPr/>
          <p:nvPr/>
        </p:nvSpPr>
        <p:spPr>
          <a:xfrm>
            <a:off x="10287000" y="2505600"/>
            <a:ext cx="1737000" cy="5940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162230"/>
                </a:solidFill>
                <a:effectLst/>
                <a:uFillTx/>
                <a:latin typeface="Calibri"/>
              </a:rPr>
              <a:t>Verificación</a:t>
            </a:r>
            <a:endParaRPr lang="es-ES" sz="1150" b="0" u="none" strike="noStrike">
              <a:solidFill>
                <a:srgbClr val="000000"/>
              </a:solidFill>
              <a:effectLst/>
              <a:uFillTx/>
              <a:latin typeface="Arial"/>
            </a:endParaRPr>
          </a:p>
          <a:p>
            <a:pPr algn="ctr" defTabSz="457200">
              <a:lnSpc>
                <a:spcPct val="100000"/>
              </a:lnSpc>
            </a:pPr>
            <a:r>
              <a:rPr lang="en-US" sz="1150" b="1" u="none" strike="noStrike">
                <a:solidFill>
                  <a:srgbClr val="162230"/>
                </a:solidFill>
                <a:effectLst/>
                <a:uFillTx/>
                <a:latin typeface="Calibri"/>
              </a:rPr>
              <a:t>automatizada</a:t>
            </a:r>
            <a:endParaRPr lang="es-ES" sz="1150" b="0" u="none" strike="noStrike">
              <a:solidFill>
                <a:srgbClr val="000000"/>
              </a:solidFill>
              <a:effectLst/>
              <a:uFillTx/>
              <a:latin typeface="Arial"/>
            </a:endParaRPr>
          </a:p>
        </p:txBody>
      </p:sp>
      <p:sp>
        <p:nvSpPr>
          <p:cNvPr id="196" name="TextBox 15"/>
          <p:cNvSpPr/>
          <p:nvPr/>
        </p:nvSpPr>
        <p:spPr>
          <a:xfrm>
            <a:off x="640080" y="3246120"/>
            <a:ext cx="1088100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50" b="1" u="none" strike="noStrike">
                <a:solidFill>
                  <a:srgbClr val="11243A"/>
                </a:solidFill>
                <a:effectLst/>
                <a:uFillTx/>
                <a:latin typeface="Calibri"/>
              </a:rPr>
              <a:t>Herramientas: cada elección permite generar o validar artefactos de forma reproducible</a:t>
            </a:r>
            <a:endParaRPr lang="es-ES" sz="1350" b="0" u="none" strike="noStrike">
              <a:solidFill>
                <a:srgbClr val="000000"/>
              </a:solidFill>
              <a:effectLst/>
              <a:uFillTx/>
              <a:latin typeface="Arial"/>
            </a:endParaRPr>
          </a:p>
        </p:txBody>
      </p:sp>
      <p:sp>
        <p:nvSpPr>
          <p:cNvPr id="197" name="Oval 16"/>
          <p:cNvSpPr/>
          <p:nvPr/>
        </p:nvSpPr>
        <p:spPr>
          <a:xfrm>
            <a:off x="91908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8" name="TextBox 17"/>
          <p:cNvSpPr/>
          <p:nvPr/>
        </p:nvSpPr>
        <p:spPr>
          <a:xfrm>
            <a:off x="64008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PY</a:t>
            </a:r>
            <a:endParaRPr lang="es-ES" sz="1300" b="0" u="none" strike="noStrike">
              <a:solidFill>
                <a:srgbClr val="000000"/>
              </a:solidFill>
              <a:effectLst/>
              <a:uFillTx/>
              <a:latin typeface="Arial"/>
            </a:endParaRPr>
          </a:p>
        </p:txBody>
      </p:sp>
      <p:sp>
        <p:nvSpPr>
          <p:cNvPr id="199" name="TextBox 18"/>
          <p:cNvSpPr/>
          <p:nvPr/>
        </p:nvSpPr>
        <p:spPr>
          <a:xfrm>
            <a:off x="54864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Python + uv</a:t>
            </a:r>
            <a:endParaRPr lang="es-ES" sz="1050" b="0" u="none" strike="noStrike">
              <a:solidFill>
                <a:srgbClr val="000000"/>
              </a:solidFill>
              <a:effectLst/>
              <a:uFillTx/>
              <a:latin typeface="Arial"/>
            </a:endParaRPr>
          </a:p>
        </p:txBody>
      </p:sp>
      <p:sp>
        <p:nvSpPr>
          <p:cNvPr id="200" name="Oval 19"/>
          <p:cNvSpPr/>
          <p:nvPr/>
        </p:nvSpPr>
        <p:spPr>
          <a:xfrm>
            <a:off x="229968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1" name="TextBox 20"/>
          <p:cNvSpPr/>
          <p:nvPr/>
        </p:nvSpPr>
        <p:spPr>
          <a:xfrm>
            <a:off x="202068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XSD</a:t>
            </a:r>
            <a:endParaRPr lang="es-ES" sz="1300" b="0" u="none" strike="noStrike">
              <a:solidFill>
                <a:srgbClr val="000000"/>
              </a:solidFill>
              <a:effectLst/>
              <a:uFillTx/>
              <a:latin typeface="Arial"/>
            </a:endParaRPr>
          </a:p>
        </p:txBody>
      </p:sp>
      <p:sp>
        <p:nvSpPr>
          <p:cNvPr id="202" name="TextBox 21"/>
          <p:cNvSpPr/>
          <p:nvPr/>
        </p:nvSpPr>
        <p:spPr>
          <a:xfrm>
            <a:off x="192924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xsdata</a:t>
            </a:r>
            <a:endParaRPr lang="es-ES" sz="1050" b="0" u="none" strike="noStrike">
              <a:solidFill>
                <a:srgbClr val="000000"/>
              </a:solidFill>
              <a:effectLst/>
              <a:uFillTx/>
              <a:latin typeface="Arial"/>
            </a:endParaRPr>
          </a:p>
        </p:txBody>
      </p:sp>
      <p:sp>
        <p:nvSpPr>
          <p:cNvPr id="203" name="Oval 22"/>
          <p:cNvSpPr/>
          <p:nvPr/>
        </p:nvSpPr>
        <p:spPr>
          <a:xfrm>
            <a:off x="368028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23"/>
          <p:cNvSpPr/>
          <p:nvPr/>
        </p:nvSpPr>
        <p:spPr>
          <a:xfrm>
            <a:off x="340164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PYD</a:t>
            </a:r>
            <a:endParaRPr lang="es-ES" sz="1300" b="0" u="none" strike="noStrike">
              <a:solidFill>
                <a:srgbClr val="000000"/>
              </a:solidFill>
              <a:effectLst/>
              <a:uFillTx/>
              <a:latin typeface="Arial"/>
            </a:endParaRPr>
          </a:p>
        </p:txBody>
      </p:sp>
      <p:sp>
        <p:nvSpPr>
          <p:cNvPr id="205" name="TextBox 24"/>
          <p:cNvSpPr/>
          <p:nvPr/>
        </p:nvSpPr>
        <p:spPr>
          <a:xfrm>
            <a:off x="331020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Pydantic</a:t>
            </a:r>
            <a:endParaRPr lang="es-ES" sz="1050" b="0" u="none" strike="noStrike">
              <a:solidFill>
                <a:srgbClr val="000000"/>
              </a:solidFill>
              <a:effectLst/>
              <a:uFillTx/>
              <a:latin typeface="Arial"/>
            </a:endParaRPr>
          </a:p>
        </p:txBody>
      </p:sp>
      <p:sp>
        <p:nvSpPr>
          <p:cNvPr id="206" name="Oval 25"/>
          <p:cNvSpPr/>
          <p:nvPr/>
        </p:nvSpPr>
        <p:spPr>
          <a:xfrm>
            <a:off x="506124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7" name="TextBox 26"/>
          <p:cNvSpPr/>
          <p:nvPr/>
        </p:nvSpPr>
        <p:spPr>
          <a:xfrm>
            <a:off x="478224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JS</a:t>
            </a:r>
            <a:endParaRPr lang="es-ES" sz="1300" b="0" u="none" strike="noStrike">
              <a:solidFill>
                <a:srgbClr val="000000"/>
              </a:solidFill>
              <a:effectLst/>
              <a:uFillTx/>
              <a:latin typeface="Arial"/>
            </a:endParaRPr>
          </a:p>
        </p:txBody>
      </p:sp>
      <p:sp>
        <p:nvSpPr>
          <p:cNvPr id="208" name="TextBox 27"/>
          <p:cNvSpPr/>
          <p:nvPr/>
        </p:nvSpPr>
        <p:spPr>
          <a:xfrm>
            <a:off x="469080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JSON Schema</a:t>
            </a:r>
            <a:endParaRPr lang="es-ES" sz="1050" b="0" u="none" strike="noStrike">
              <a:solidFill>
                <a:srgbClr val="000000"/>
              </a:solidFill>
              <a:effectLst/>
              <a:uFillTx/>
              <a:latin typeface="Arial"/>
            </a:endParaRPr>
          </a:p>
        </p:txBody>
      </p:sp>
      <p:sp>
        <p:nvSpPr>
          <p:cNvPr id="209" name="Oval 28"/>
          <p:cNvSpPr/>
          <p:nvPr/>
        </p:nvSpPr>
        <p:spPr>
          <a:xfrm>
            <a:off x="644184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9"/>
          <p:cNvSpPr/>
          <p:nvPr/>
        </p:nvSpPr>
        <p:spPr>
          <a:xfrm>
            <a:off x="616320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DB</a:t>
            </a:r>
            <a:endParaRPr lang="es-ES" sz="1300" b="0" u="none" strike="noStrike">
              <a:solidFill>
                <a:srgbClr val="000000"/>
              </a:solidFill>
              <a:effectLst/>
              <a:uFillTx/>
              <a:latin typeface="Arial"/>
            </a:endParaRPr>
          </a:p>
        </p:txBody>
      </p:sp>
      <p:sp>
        <p:nvSpPr>
          <p:cNvPr id="211" name="TextBox 30"/>
          <p:cNvSpPr/>
          <p:nvPr/>
        </p:nvSpPr>
        <p:spPr>
          <a:xfrm>
            <a:off x="607176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SQLite</a:t>
            </a:r>
            <a:endParaRPr lang="es-ES" sz="1050" b="0" u="none" strike="noStrike">
              <a:solidFill>
                <a:srgbClr val="000000"/>
              </a:solidFill>
              <a:effectLst/>
              <a:uFillTx/>
              <a:latin typeface="Arial"/>
            </a:endParaRPr>
          </a:p>
        </p:txBody>
      </p:sp>
      <p:sp>
        <p:nvSpPr>
          <p:cNvPr id="212" name="Oval 31"/>
          <p:cNvSpPr/>
          <p:nvPr/>
        </p:nvSpPr>
        <p:spPr>
          <a:xfrm>
            <a:off x="782280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3" name="TextBox 32"/>
          <p:cNvSpPr/>
          <p:nvPr/>
        </p:nvSpPr>
        <p:spPr>
          <a:xfrm>
            <a:off x="754380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J2</a:t>
            </a:r>
            <a:endParaRPr lang="es-ES" sz="1300" b="0" u="none" strike="noStrike">
              <a:solidFill>
                <a:srgbClr val="000000"/>
              </a:solidFill>
              <a:effectLst/>
              <a:uFillTx/>
              <a:latin typeface="Arial"/>
            </a:endParaRPr>
          </a:p>
        </p:txBody>
      </p:sp>
      <p:sp>
        <p:nvSpPr>
          <p:cNvPr id="214" name="TextBox 33"/>
          <p:cNvSpPr/>
          <p:nvPr/>
        </p:nvSpPr>
        <p:spPr>
          <a:xfrm>
            <a:off x="745236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Jinja + LaTeX</a:t>
            </a:r>
            <a:endParaRPr lang="es-ES" sz="1050" b="0" u="none" strike="noStrike">
              <a:solidFill>
                <a:srgbClr val="000000"/>
              </a:solidFill>
              <a:effectLst/>
              <a:uFillTx/>
              <a:latin typeface="Arial"/>
            </a:endParaRPr>
          </a:p>
        </p:txBody>
      </p:sp>
      <p:sp>
        <p:nvSpPr>
          <p:cNvPr id="215" name="Oval 34"/>
          <p:cNvSpPr/>
          <p:nvPr/>
        </p:nvSpPr>
        <p:spPr>
          <a:xfrm>
            <a:off x="920340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6" name="TextBox 35"/>
          <p:cNvSpPr/>
          <p:nvPr/>
        </p:nvSpPr>
        <p:spPr>
          <a:xfrm>
            <a:off x="892440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PT</a:t>
            </a:r>
            <a:endParaRPr lang="es-ES" sz="1300" b="0" u="none" strike="noStrike">
              <a:solidFill>
                <a:srgbClr val="000000"/>
              </a:solidFill>
              <a:effectLst/>
              <a:uFillTx/>
              <a:latin typeface="Arial"/>
            </a:endParaRPr>
          </a:p>
        </p:txBody>
      </p:sp>
      <p:sp>
        <p:nvSpPr>
          <p:cNvPr id="217" name="TextBox 36"/>
          <p:cNvSpPr/>
          <p:nvPr/>
        </p:nvSpPr>
        <p:spPr>
          <a:xfrm>
            <a:off x="883296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pytest + xdist</a:t>
            </a:r>
            <a:endParaRPr lang="es-ES" sz="1050" b="0" u="none" strike="noStrike">
              <a:solidFill>
                <a:srgbClr val="000000"/>
              </a:solidFill>
              <a:effectLst/>
              <a:uFillTx/>
              <a:latin typeface="Arial"/>
            </a:endParaRPr>
          </a:p>
        </p:txBody>
      </p:sp>
      <p:sp>
        <p:nvSpPr>
          <p:cNvPr id="218" name="Oval 37"/>
          <p:cNvSpPr/>
          <p:nvPr/>
        </p:nvSpPr>
        <p:spPr>
          <a:xfrm>
            <a:off x="10584360" y="3794760"/>
            <a:ext cx="658080" cy="658080"/>
          </a:xfrm>
          <a:prstGeom prst="ellipse">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9" name="TextBox 38"/>
          <p:cNvSpPr/>
          <p:nvPr/>
        </p:nvSpPr>
        <p:spPr>
          <a:xfrm>
            <a:off x="10305360" y="3794760"/>
            <a:ext cx="1215720" cy="65808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mbria"/>
              </a:rPr>
              <a:t>GH</a:t>
            </a:r>
            <a:endParaRPr lang="es-ES" sz="1300" b="0" u="none" strike="noStrike">
              <a:solidFill>
                <a:srgbClr val="000000"/>
              </a:solidFill>
              <a:effectLst/>
              <a:uFillTx/>
              <a:latin typeface="Arial"/>
            </a:endParaRPr>
          </a:p>
        </p:txBody>
      </p:sp>
      <p:sp>
        <p:nvSpPr>
          <p:cNvPr id="220" name="TextBox 39"/>
          <p:cNvSpPr/>
          <p:nvPr/>
        </p:nvSpPr>
        <p:spPr>
          <a:xfrm>
            <a:off x="10213920" y="4544640"/>
            <a:ext cx="1398600" cy="639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1" u="none" strike="noStrike">
                <a:solidFill>
                  <a:srgbClr val="162230"/>
                </a:solidFill>
                <a:effectLst/>
                <a:uFillTx/>
                <a:latin typeface="Calibri"/>
              </a:rPr>
              <a:t>Git + Actions</a:t>
            </a:r>
            <a:endParaRPr lang="es-ES"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2"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4 · METODOLOGÍA Y ARQUITECTURA</a:t>
            </a:r>
            <a:endParaRPr lang="es-ES" sz="1300" b="0" u="none" strike="noStrike">
              <a:solidFill>
                <a:srgbClr val="000000"/>
              </a:solidFill>
              <a:effectLst/>
              <a:uFillTx/>
              <a:latin typeface="Arial"/>
            </a:endParaRPr>
          </a:p>
        </p:txBody>
      </p:sp>
      <p:sp>
        <p:nvSpPr>
          <p:cNvPr id="223"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Arquitectura general por capas</a:t>
            </a:r>
            <a:endParaRPr lang="es-ES" sz="3000" b="0" u="none" strike="noStrike">
              <a:solidFill>
                <a:srgbClr val="000000"/>
              </a:solidFill>
              <a:effectLst/>
              <a:uFillTx/>
              <a:latin typeface="Arial"/>
            </a:endParaRPr>
          </a:p>
        </p:txBody>
      </p:sp>
      <p:pic>
        <p:nvPicPr>
          <p:cNvPr id="224" name="Picture 4" descr="open_cvn_layered_architecture.png"/>
          <p:cNvPicPr/>
          <p:nvPr/>
        </p:nvPicPr>
        <p:blipFill>
          <a:blip r:embed="rId1"/>
          <a:stretch/>
        </p:blipFill>
        <p:spPr>
          <a:xfrm>
            <a:off x="640080" y="1761480"/>
            <a:ext cx="10881000" cy="1734480"/>
          </a:xfrm>
          <a:prstGeom prst="rect">
            <a:avLst/>
          </a:prstGeom>
          <a:noFill/>
          <a:ln w="0">
            <a:noFill/>
          </a:ln>
        </p:spPr>
      </p:pic>
      <p:sp>
        <p:nvSpPr>
          <p:cNvPr id="225" name="Rounded Rectangle 5"/>
          <p:cNvSpPr/>
          <p:nvPr/>
        </p:nvSpPr>
        <p:spPr>
          <a:xfrm>
            <a:off x="640080" y="3977640"/>
            <a:ext cx="2610360" cy="18741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6" name="Rounded Rectangle 6"/>
          <p:cNvSpPr/>
          <p:nvPr/>
        </p:nvSpPr>
        <p:spPr>
          <a:xfrm>
            <a:off x="640080" y="3977640"/>
            <a:ext cx="2610360" cy="91080"/>
          </a:xfrm>
          <a:prstGeom prst="roundRect">
            <a:avLst>
              <a:gd name="adj" fmla="val 50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227" name="TextBox 7"/>
          <p:cNvSpPr/>
          <p:nvPr/>
        </p:nvSpPr>
        <p:spPr>
          <a:xfrm>
            <a:off x="786240" y="4233600"/>
            <a:ext cx="2317680" cy="639720"/>
          </a:xfrm>
          <a:prstGeom prst="rect">
            <a:avLst/>
          </a:prstGeom>
          <a:noFill/>
          <a:ln w="0">
            <a:noFill/>
          </a:ln>
        </p:spPr>
        <p:style>
          <a:lnRef idx="0"/>
          <a:fillRef idx="0"/>
          <a:effectRef idx="0"/>
          <a:fontRef idx="minor"/>
        </p:style>
        <p:txBody>
          <a:bodyPr lIns="0" tIns="0" rIns="0" bIns="0" anchor="t">
            <a:spAutoFit/>
          </a:bodyPr>
          <a:p>
            <a:pPr defTabSz="457200">
              <a:lnSpc>
                <a:spcPct val="105000"/>
              </a:lnSpc>
            </a:pPr>
            <a:r>
              <a:rPr lang="en-US" sz="1250" b="1" u="none" strike="noStrike">
                <a:solidFill>
                  <a:srgbClr val="11243A"/>
                </a:solidFill>
                <a:effectLst/>
                <a:uFillTx/>
                <a:latin typeface="Calibri"/>
              </a:rPr>
              <a:t>Fuente oficial CVN</a:t>
            </a:r>
            <a:endParaRPr lang="es-ES" sz="1250" b="0" u="none" strike="noStrike">
              <a:solidFill>
                <a:srgbClr val="000000"/>
              </a:solidFill>
              <a:effectLst/>
              <a:uFillTx/>
              <a:latin typeface="Arial"/>
            </a:endParaRPr>
          </a:p>
        </p:txBody>
      </p:sp>
      <p:sp>
        <p:nvSpPr>
          <p:cNvPr id="228" name="TextBox 8"/>
          <p:cNvSpPr/>
          <p:nvPr/>
        </p:nvSpPr>
        <p:spPr>
          <a:xfrm>
            <a:off x="786240" y="4892040"/>
            <a:ext cx="2317680" cy="82260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50" b="0" u="none" strike="noStrike">
                <a:solidFill>
                  <a:srgbClr val="5B6B7A"/>
                </a:solidFill>
                <a:effectLst/>
                <a:uFillTx/>
                <a:latin typeface="Calibri"/>
              </a:rPr>
              <a:t>Frontera externa: única fuente formal del sistema</a:t>
            </a:r>
            <a:endParaRPr lang="es-ES" sz="1050" b="0" u="none" strike="noStrike">
              <a:solidFill>
                <a:srgbClr val="000000"/>
              </a:solidFill>
              <a:effectLst/>
              <a:uFillTx/>
              <a:latin typeface="Arial"/>
            </a:endParaRPr>
          </a:p>
        </p:txBody>
      </p:sp>
      <p:sp>
        <p:nvSpPr>
          <p:cNvPr id="229" name="Rounded Rectangle 9"/>
          <p:cNvSpPr/>
          <p:nvPr/>
        </p:nvSpPr>
        <p:spPr>
          <a:xfrm>
            <a:off x="3396960" y="3977640"/>
            <a:ext cx="2610360" cy="18741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0" name="Rounded Rectangle 10"/>
          <p:cNvSpPr/>
          <p:nvPr/>
        </p:nvSpPr>
        <p:spPr>
          <a:xfrm>
            <a:off x="3396960" y="3977640"/>
            <a:ext cx="2610360" cy="91080"/>
          </a:xfrm>
          <a:prstGeom prst="roundRect">
            <a:avLst>
              <a:gd name="adj" fmla="val 50000"/>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231" name="TextBox 11"/>
          <p:cNvSpPr/>
          <p:nvPr/>
        </p:nvSpPr>
        <p:spPr>
          <a:xfrm>
            <a:off x="3543480" y="4233600"/>
            <a:ext cx="2317680" cy="639720"/>
          </a:xfrm>
          <a:prstGeom prst="rect">
            <a:avLst/>
          </a:prstGeom>
          <a:noFill/>
          <a:ln w="0">
            <a:noFill/>
          </a:ln>
        </p:spPr>
        <p:style>
          <a:lnRef idx="0"/>
          <a:fillRef idx="0"/>
          <a:effectRef idx="0"/>
          <a:fontRef idx="minor"/>
        </p:style>
        <p:txBody>
          <a:bodyPr lIns="0" tIns="0" rIns="0" bIns="0" anchor="t">
            <a:spAutoFit/>
          </a:bodyPr>
          <a:p>
            <a:pPr defTabSz="457200">
              <a:lnSpc>
                <a:spcPct val="105000"/>
              </a:lnSpc>
            </a:pPr>
            <a:r>
              <a:rPr lang="en-US" sz="1250" b="1" u="none" strike="noStrike">
                <a:solidFill>
                  <a:srgbClr val="11243A"/>
                </a:solidFill>
                <a:effectLst/>
                <a:uFillTx/>
                <a:latin typeface="Calibri"/>
              </a:rPr>
              <a:t>Generación y normalización</a:t>
            </a:r>
            <a:endParaRPr lang="es-ES" sz="1250" b="0" u="none" strike="noStrike">
              <a:solidFill>
                <a:srgbClr val="000000"/>
              </a:solidFill>
              <a:effectLst/>
              <a:uFillTx/>
              <a:latin typeface="Arial"/>
            </a:endParaRPr>
          </a:p>
        </p:txBody>
      </p:sp>
      <p:sp>
        <p:nvSpPr>
          <p:cNvPr id="232" name="TextBox 12"/>
          <p:cNvSpPr/>
          <p:nvPr/>
        </p:nvSpPr>
        <p:spPr>
          <a:xfrm>
            <a:off x="3543480" y="4892040"/>
            <a:ext cx="2317680" cy="82260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50" b="0" u="none" strike="noStrike">
                <a:solidFill>
                  <a:srgbClr val="5B6B7A"/>
                </a:solidFill>
                <a:effectLst/>
                <a:uFillTx/>
                <a:latin typeface="Calibri"/>
              </a:rPr>
              <a:t>Bindings estructurales, metadatos y política semántica</a:t>
            </a:r>
            <a:endParaRPr lang="es-ES" sz="1050" b="0" u="none" strike="noStrike">
              <a:solidFill>
                <a:srgbClr val="000000"/>
              </a:solidFill>
              <a:effectLst/>
              <a:uFillTx/>
              <a:latin typeface="Arial"/>
            </a:endParaRPr>
          </a:p>
        </p:txBody>
      </p:sp>
      <p:sp>
        <p:nvSpPr>
          <p:cNvPr id="233" name="Rounded Rectangle 13"/>
          <p:cNvSpPr/>
          <p:nvPr/>
        </p:nvSpPr>
        <p:spPr>
          <a:xfrm>
            <a:off x="6153840" y="3977640"/>
            <a:ext cx="2610360" cy="18741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4" name="Rounded Rectangle 14"/>
          <p:cNvSpPr/>
          <p:nvPr/>
        </p:nvSpPr>
        <p:spPr>
          <a:xfrm>
            <a:off x="6153840" y="3977640"/>
            <a:ext cx="2610360" cy="91080"/>
          </a:xfrm>
          <a:prstGeom prst="roundRect">
            <a:avLst>
              <a:gd name="adj" fmla="val 50000"/>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235" name="TextBox 15"/>
          <p:cNvSpPr/>
          <p:nvPr/>
        </p:nvSpPr>
        <p:spPr>
          <a:xfrm>
            <a:off x="6300360" y="4233600"/>
            <a:ext cx="2317680" cy="639720"/>
          </a:xfrm>
          <a:prstGeom prst="rect">
            <a:avLst/>
          </a:prstGeom>
          <a:noFill/>
          <a:ln w="0">
            <a:noFill/>
          </a:ln>
        </p:spPr>
        <p:style>
          <a:lnRef idx="0"/>
          <a:fillRef idx="0"/>
          <a:effectRef idx="0"/>
          <a:fontRef idx="minor"/>
        </p:style>
        <p:txBody>
          <a:bodyPr lIns="0" tIns="0" rIns="0" bIns="0" anchor="t">
            <a:spAutoFit/>
          </a:bodyPr>
          <a:p>
            <a:pPr defTabSz="457200">
              <a:lnSpc>
                <a:spcPct val="105000"/>
              </a:lnSpc>
            </a:pPr>
            <a:r>
              <a:rPr lang="en-US" sz="1250" b="1" u="none" strike="noStrike">
                <a:solidFill>
                  <a:srgbClr val="11243A"/>
                </a:solidFill>
                <a:effectLst/>
                <a:uFillTx/>
                <a:latin typeface="Calibri"/>
              </a:rPr>
              <a:t>Dominio, conceptual y formato</a:t>
            </a:r>
            <a:endParaRPr lang="es-ES" sz="1250" b="0" u="none" strike="noStrike">
              <a:solidFill>
                <a:srgbClr val="000000"/>
              </a:solidFill>
              <a:effectLst/>
              <a:uFillTx/>
              <a:latin typeface="Arial"/>
            </a:endParaRPr>
          </a:p>
        </p:txBody>
      </p:sp>
      <p:sp>
        <p:nvSpPr>
          <p:cNvPr id="236" name="TextBox 16"/>
          <p:cNvSpPr/>
          <p:nvPr/>
        </p:nvSpPr>
        <p:spPr>
          <a:xfrm>
            <a:off x="6300360" y="4892040"/>
            <a:ext cx="2317680" cy="82260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50" b="0" u="none" strike="noStrike">
                <a:solidFill>
                  <a:srgbClr val="5B6B7A"/>
                </a:solidFill>
                <a:effectLst/>
                <a:uFillTx/>
                <a:latin typeface="Calibri"/>
              </a:rPr>
              <a:t>Modelos de dominio, modelo conceptual y JSON Schema</a:t>
            </a:r>
            <a:endParaRPr lang="es-ES" sz="1050" b="0" u="none" strike="noStrike">
              <a:solidFill>
                <a:srgbClr val="000000"/>
              </a:solidFill>
              <a:effectLst/>
              <a:uFillTx/>
              <a:latin typeface="Arial"/>
            </a:endParaRPr>
          </a:p>
        </p:txBody>
      </p:sp>
      <p:sp>
        <p:nvSpPr>
          <p:cNvPr id="237" name="Rounded Rectangle 17"/>
          <p:cNvSpPr/>
          <p:nvPr/>
        </p:nvSpPr>
        <p:spPr>
          <a:xfrm>
            <a:off x="8910720" y="3977640"/>
            <a:ext cx="2610360" cy="18741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8" name="Rounded Rectangle 18"/>
          <p:cNvSpPr/>
          <p:nvPr/>
        </p:nvSpPr>
        <p:spPr>
          <a:xfrm>
            <a:off x="8910720" y="3977640"/>
            <a:ext cx="2610360" cy="91080"/>
          </a:xfrm>
          <a:prstGeom prst="roundRect">
            <a:avLst>
              <a:gd name="adj" fmla="val 50000"/>
            </a:avLst>
          </a:prstGeom>
          <a:solidFill>
            <a:srgbClr val="E09A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239" name="TextBox 19"/>
          <p:cNvSpPr/>
          <p:nvPr/>
        </p:nvSpPr>
        <p:spPr>
          <a:xfrm>
            <a:off x="9057240" y="4233600"/>
            <a:ext cx="2317680" cy="639720"/>
          </a:xfrm>
          <a:prstGeom prst="rect">
            <a:avLst/>
          </a:prstGeom>
          <a:noFill/>
          <a:ln w="0">
            <a:noFill/>
          </a:ln>
        </p:spPr>
        <p:style>
          <a:lnRef idx="0"/>
          <a:fillRef idx="0"/>
          <a:effectRef idx="0"/>
          <a:fontRef idx="minor"/>
        </p:style>
        <p:txBody>
          <a:bodyPr lIns="0" tIns="0" rIns="0" bIns="0" anchor="t">
            <a:spAutoFit/>
          </a:bodyPr>
          <a:p>
            <a:pPr defTabSz="457200">
              <a:lnSpc>
                <a:spcPct val="105000"/>
              </a:lnSpc>
            </a:pPr>
            <a:r>
              <a:rPr lang="en-US" sz="1250" b="1" u="none" strike="noStrike">
                <a:solidFill>
                  <a:srgbClr val="11243A"/>
                </a:solidFill>
                <a:effectLst/>
                <a:uFillTx/>
                <a:latin typeface="Calibri"/>
              </a:rPr>
              <a:t>Herramienta local</a:t>
            </a:r>
            <a:endParaRPr lang="es-ES" sz="1250" b="0" u="none" strike="noStrike">
              <a:solidFill>
                <a:srgbClr val="000000"/>
              </a:solidFill>
              <a:effectLst/>
              <a:uFillTx/>
              <a:latin typeface="Arial"/>
            </a:endParaRPr>
          </a:p>
        </p:txBody>
      </p:sp>
      <p:sp>
        <p:nvSpPr>
          <p:cNvPr id="240" name="TextBox 20"/>
          <p:cNvSpPr/>
          <p:nvPr/>
        </p:nvSpPr>
        <p:spPr>
          <a:xfrm>
            <a:off x="9057240" y="4892040"/>
            <a:ext cx="2317680" cy="822600"/>
          </a:xfrm>
          <a:prstGeom prst="rect">
            <a:avLst/>
          </a:prstGeom>
          <a:noFill/>
          <a:ln w="0">
            <a:noFill/>
          </a:ln>
        </p:spPr>
        <p:style>
          <a:lnRef idx="0"/>
          <a:fillRef idx="0"/>
          <a:effectRef idx="0"/>
          <a:fontRef idx="minor"/>
        </p:style>
        <p:txBody>
          <a:bodyPr lIns="0" tIns="0" rIns="0" bIns="0" anchor="t">
            <a:spAutoFit/>
          </a:bodyPr>
          <a:p>
            <a:pPr defTabSz="457200">
              <a:lnSpc>
                <a:spcPct val="112000"/>
              </a:lnSpc>
            </a:pPr>
            <a:r>
              <a:rPr lang="en-US" sz="1050" b="0" u="none" strike="noStrike">
                <a:solidFill>
                  <a:srgbClr val="5B6B7A"/>
                </a:solidFill>
                <a:effectLst/>
                <a:uFillTx/>
                <a:latin typeface="Calibri"/>
              </a:rPr>
              <a:t>Uso operativo: importación, versiones, exportación</a:t>
            </a:r>
            <a:endParaRPr lang="es-ES"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2"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5 · IMPLEMENTACIÓN DEL PIPELINE</a:t>
            </a:r>
            <a:endParaRPr lang="es-ES" sz="1300" b="0" u="none" strike="noStrike">
              <a:solidFill>
                <a:srgbClr val="000000"/>
              </a:solidFill>
              <a:effectLst/>
              <a:uFillTx/>
              <a:latin typeface="Arial"/>
            </a:endParaRPr>
          </a:p>
        </p:txBody>
      </p:sp>
      <p:sp>
        <p:nvSpPr>
          <p:cNvPr id="243"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De los XSD oficiales a una política semántica trazable</a:t>
            </a:r>
            <a:endParaRPr lang="es-ES" sz="3000" b="0" u="none" strike="noStrike">
              <a:solidFill>
                <a:srgbClr val="000000"/>
              </a:solidFill>
              <a:effectLst/>
              <a:uFillTx/>
              <a:latin typeface="Arial"/>
            </a:endParaRPr>
          </a:p>
        </p:txBody>
      </p:sp>
      <p:sp>
        <p:nvSpPr>
          <p:cNvPr id="244" name="Rounded Rectangle 4"/>
          <p:cNvSpPr/>
          <p:nvPr/>
        </p:nvSpPr>
        <p:spPr>
          <a:xfrm>
            <a:off x="640080" y="1874520"/>
            <a:ext cx="2610360" cy="3062880"/>
          </a:xfrm>
          <a:prstGeom prst="roundRect">
            <a:avLst>
              <a:gd name="adj" fmla="val 8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5" name="Oval 5"/>
          <p:cNvSpPr/>
          <p:nvPr/>
        </p:nvSpPr>
        <p:spPr>
          <a:xfrm>
            <a:off x="841320" y="2094120"/>
            <a:ext cx="502560" cy="502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1</a:t>
            </a:r>
            <a:endParaRPr lang="es-ES" sz="1500" b="0" u="none" strike="noStrike">
              <a:solidFill>
                <a:srgbClr val="FFFFFF"/>
              </a:solidFill>
              <a:effectLst/>
              <a:uFillTx/>
              <a:latin typeface="Arial"/>
            </a:endParaRPr>
          </a:p>
        </p:txBody>
      </p:sp>
      <p:sp>
        <p:nvSpPr>
          <p:cNvPr id="246" name="TextBox 6"/>
          <p:cNvSpPr/>
          <p:nvPr/>
        </p:nvSpPr>
        <p:spPr>
          <a:xfrm>
            <a:off x="822960" y="2788920"/>
            <a:ext cx="2244600" cy="68544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1350" b="1" u="none" strike="noStrike">
                <a:solidFill>
                  <a:srgbClr val="11243A"/>
                </a:solidFill>
                <a:effectLst/>
                <a:uFillTx/>
                <a:latin typeface="Calibri"/>
              </a:rPr>
              <a:t>Generación estructural</a:t>
            </a:r>
            <a:endParaRPr lang="es-ES" sz="1350" b="0" u="none" strike="noStrike">
              <a:solidFill>
                <a:srgbClr val="000000"/>
              </a:solidFill>
              <a:effectLst/>
              <a:uFillTx/>
              <a:latin typeface="Arial"/>
            </a:endParaRPr>
          </a:p>
        </p:txBody>
      </p:sp>
      <p:sp>
        <p:nvSpPr>
          <p:cNvPr id="247" name="TextBox 7"/>
          <p:cNvSpPr/>
          <p:nvPr/>
        </p:nvSpPr>
        <p:spPr>
          <a:xfrm>
            <a:off x="822960" y="3429000"/>
            <a:ext cx="2244600" cy="13712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80" b="0" u="none" strike="noStrike">
                <a:solidFill>
                  <a:srgbClr val="5B6B7A"/>
                </a:solidFill>
                <a:effectLst/>
                <a:uFillTx/>
                <a:latin typeface="Calibri"/>
              </a:rPr>
              <a:t>xsdata genera bindings Pydantic fieles al XML de CVN, sin interpretación semántica todavía.</a:t>
            </a:r>
            <a:endParaRPr lang="es-ES" sz="1080" b="0" u="none" strike="noStrike">
              <a:solidFill>
                <a:srgbClr val="000000"/>
              </a:solidFill>
              <a:effectLst/>
              <a:uFillTx/>
              <a:latin typeface="Arial"/>
            </a:endParaRPr>
          </a:p>
        </p:txBody>
      </p:sp>
      <p:sp>
        <p:nvSpPr>
          <p:cNvPr id="248" name="Rounded Rectangle 8"/>
          <p:cNvSpPr/>
          <p:nvPr/>
        </p:nvSpPr>
        <p:spPr>
          <a:xfrm>
            <a:off x="3396960" y="1874520"/>
            <a:ext cx="2610360" cy="3062880"/>
          </a:xfrm>
          <a:prstGeom prst="roundRect">
            <a:avLst>
              <a:gd name="adj" fmla="val 8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Oval 9"/>
          <p:cNvSpPr/>
          <p:nvPr/>
        </p:nvSpPr>
        <p:spPr>
          <a:xfrm>
            <a:off x="3598200" y="2094120"/>
            <a:ext cx="502560" cy="502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2</a:t>
            </a:r>
            <a:endParaRPr lang="es-ES" sz="1500" b="0" u="none" strike="noStrike">
              <a:solidFill>
                <a:srgbClr val="FFFFFF"/>
              </a:solidFill>
              <a:effectLst/>
              <a:uFillTx/>
              <a:latin typeface="Arial"/>
            </a:endParaRPr>
          </a:p>
        </p:txBody>
      </p:sp>
      <p:sp>
        <p:nvSpPr>
          <p:cNvPr id="250" name="TextBox 10"/>
          <p:cNvSpPr/>
          <p:nvPr/>
        </p:nvSpPr>
        <p:spPr>
          <a:xfrm>
            <a:off x="3579840" y="2788920"/>
            <a:ext cx="2244600" cy="68544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1350" b="1" u="none" strike="noStrike">
                <a:solidFill>
                  <a:srgbClr val="11243A"/>
                </a:solidFill>
                <a:effectLst/>
                <a:uFillTx/>
                <a:latin typeface="Calibri"/>
              </a:rPr>
              <a:t>Normalización</a:t>
            </a:r>
            <a:endParaRPr lang="es-ES" sz="1350" b="0" u="none" strike="noStrike">
              <a:solidFill>
                <a:srgbClr val="000000"/>
              </a:solidFill>
              <a:effectLst/>
              <a:uFillTx/>
              <a:latin typeface="Arial"/>
            </a:endParaRPr>
          </a:p>
        </p:txBody>
      </p:sp>
      <p:sp>
        <p:nvSpPr>
          <p:cNvPr id="251" name="TextBox 11"/>
          <p:cNvSpPr/>
          <p:nvPr/>
        </p:nvSpPr>
        <p:spPr>
          <a:xfrm>
            <a:off x="3579840" y="3429000"/>
            <a:ext cx="2244600" cy="13712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80" b="0" u="none" strike="noStrike">
                <a:solidFill>
                  <a:srgbClr val="5B6B7A"/>
                </a:solidFill>
                <a:effectLst/>
                <a:uFillTx/>
                <a:latin typeface="Calibri"/>
              </a:rPr>
              <a:t>Unifica manual funcional y modelo en árbol en una única estructura, indexada por código CVN.</a:t>
            </a:r>
            <a:endParaRPr lang="es-ES" sz="1080" b="0" u="none" strike="noStrike">
              <a:solidFill>
                <a:srgbClr val="000000"/>
              </a:solidFill>
              <a:effectLst/>
              <a:uFillTx/>
              <a:latin typeface="Arial"/>
            </a:endParaRPr>
          </a:p>
        </p:txBody>
      </p:sp>
      <p:sp>
        <p:nvSpPr>
          <p:cNvPr id="252" name="Rounded Rectangle 12"/>
          <p:cNvSpPr/>
          <p:nvPr/>
        </p:nvSpPr>
        <p:spPr>
          <a:xfrm>
            <a:off x="6153840" y="1874520"/>
            <a:ext cx="2610360" cy="3062880"/>
          </a:xfrm>
          <a:prstGeom prst="roundRect">
            <a:avLst>
              <a:gd name="adj" fmla="val 8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3" name="Oval 13"/>
          <p:cNvSpPr/>
          <p:nvPr/>
        </p:nvSpPr>
        <p:spPr>
          <a:xfrm>
            <a:off x="6355080" y="2094120"/>
            <a:ext cx="502560" cy="502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3</a:t>
            </a:r>
            <a:endParaRPr lang="es-ES" sz="1500" b="0" u="none" strike="noStrike">
              <a:solidFill>
                <a:srgbClr val="FFFFFF"/>
              </a:solidFill>
              <a:effectLst/>
              <a:uFillTx/>
              <a:latin typeface="Arial"/>
            </a:endParaRPr>
          </a:p>
        </p:txBody>
      </p:sp>
      <p:sp>
        <p:nvSpPr>
          <p:cNvPr id="254" name="TextBox 14"/>
          <p:cNvSpPr/>
          <p:nvPr/>
        </p:nvSpPr>
        <p:spPr>
          <a:xfrm>
            <a:off x="6336720" y="2788920"/>
            <a:ext cx="2244600" cy="68544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1350" b="1" u="none" strike="noStrike">
                <a:solidFill>
                  <a:srgbClr val="11243A"/>
                </a:solidFill>
                <a:effectLst/>
                <a:uFillTx/>
                <a:latin typeface="Calibri"/>
              </a:rPr>
              <a:t>Resolución auxiliar</a:t>
            </a:r>
            <a:endParaRPr lang="es-ES" sz="1350" b="0" u="none" strike="noStrike">
              <a:solidFill>
                <a:srgbClr val="000000"/>
              </a:solidFill>
              <a:effectLst/>
              <a:uFillTx/>
              <a:latin typeface="Arial"/>
            </a:endParaRPr>
          </a:p>
        </p:txBody>
      </p:sp>
      <p:sp>
        <p:nvSpPr>
          <p:cNvPr id="255" name="TextBox 15"/>
          <p:cNvSpPr/>
          <p:nvPr/>
        </p:nvSpPr>
        <p:spPr>
          <a:xfrm>
            <a:off x="6336720" y="3429000"/>
            <a:ext cx="2244600" cy="13712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80" b="0" u="none" strike="noStrike">
                <a:solidFill>
                  <a:srgbClr val="5B6B7A"/>
                </a:solidFill>
                <a:effectLst/>
                <a:uFillTx/>
                <a:latin typeface="Calibri"/>
              </a:rPr>
              <a:t>Resuelve las referencias del manual hacia entidades, tablas y tesauro, con evidencia registrada.</a:t>
            </a:r>
            <a:endParaRPr lang="es-ES" sz="1080" b="0" u="none" strike="noStrike">
              <a:solidFill>
                <a:srgbClr val="000000"/>
              </a:solidFill>
              <a:effectLst/>
              <a:uFillTx/>
              <a:latin typeface="Arial"/>
            </a:endParaRPr>
          </a:p>
        </p:txBody>
      </p:sp>
      <p:sp>
        <p:nvSpPr>
          <p:cNvPr id="256" name="Rounded Rectangle 16"/>
          <p:cNvSpPr/>
          <p:nvPr/>
        </p:nvSpPr>
        <p:spPr>
          <a:xfrm>
            <a:off x="8910720" y="1874520"/>
            <a:ext cx="2610360" cy="3062880"/>
          </a:xfrm>
          <a:prstGeom prst="roundRect">
            <a:avLst>
              <a:gd name="adj" fmla="val 8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Oval 17"/>
          <p:cNvSpPr/>
          <p:nvPr/>
        </p:nvSpPr>
        <p:spPr>
          <a:xfrm>
            <a:off x="9111960" y="2094120"/>
            <a:ext cx="502560" cy="50256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4</a:t>
            </a:r>
            <a:endParaRPr lang="es-ES" sz="1500" b="0" u="none" strike="noStrike">
              <a:solidFill>
                <a:srgbClr val="FFFFFF"/>
              </a:solidFill>
              <a:effectLst/>
              <a:uFillTx/>
              <a:latin typeface="Arial"/>
            </a:endParaRPr>
          </a:p>
        </p:txBody>
      </p:sp>
      <p:sp>
        <p:nvSpPr>
          <p:cNvPr id="258" name="TextBox 18"/>
          <p:cNvSpPr/>
          <p:nvPr/>
        </p:nvSpPr>
        <p:spPr>
          <a:xfrm>
            <a:off x="9093600" y="2788920"/>
            <a:ext cx="2244600" cy="68544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1350" b="1" u="none" strike="noStrike">
                <a:solidFill>
                  <a:srgbClr val="11243A"/>
                </a:solidFill>
                <a:effectLst/>
                <a:uFillTx/>
                <a:latin typeface="Calibri"/>
              </a:rPr>
              <a:t>Política semántica</a:t>
            </a:r>
            <a:endParaRPr lang="es-ES" sz="1350" b="0" u="none" strike="noStrike">
              <a:solidFill>
                <a:srgbClr val="000000"/>
              </a:solidFill>
              <a:effectLst/>
              <a:uFillTx/>
              <a:latin typeface="Arial"/>
            </a:endParaRPr>
          </a:p>
        </p:txBody>
      </p:sp>
      <p:sp>
        <p:nvSpPr>
          <p:cNvPr id="259" name="TextBox 19"/>
          <p:cNvSpPr/>
          <p:nvPr/>
        </p:nvSpPr>
        <p:spPr>
          <a:xfrm>
            <a:off x="9093600" y="3429000"/>
            <a:ext cx="2244600" cy="13712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80" b="0" u="none" strike="noStrike">
                <a:solidFill>
                  <a:srgbClr val="5B6B7A"/>
                </a:solidFill>
                <a:effectLst/>
                <a:uFillTx/>
                <a:latin typeface="Calibri"/>
              </a:rPr>
              <a:t>Decide, campo a campo, su forma semántica: texto, fecha, enum cerrado, catálogo abierto, referencia…</a:t>
            </a:r>
            <a:endParaRPr lang="es-ES" sz="1080" b="0" u="none" strike="noStrike">
              <a:solidFill>
                <a:srgbClr val="000000"/>
              </a:solidFill>
              <a:effectLst/>
              <a:uFillTx/>
              <a:latin typeface="Arial"/>
            </a:endParaRPr>
          </a:p>
        </p:txBody>
      </p:sp>
      <p:sp>
        <p:nvSpPr>
          <p:cNvPr id="260" name="TextBox 20"/>
          <p:cNvSpPr/>
          <p:nvPr/>
        </p:nvSpPr>
        <p:spPr>
          <a:xfrm>
            <a:off x="640080" y="5166360"/>
            <a:ext cx="10881000" cy="4568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5 · IMPLEMENTACIÓN DEL PIPELINE</a:t>
            </a:r>
            <a:endParaRPr lang="es-ES" sz="1300" b="0" u="none" strike="noStrike">
              <a:solidFill>
                <a:srgbClr val="000000"/>
              </a:solidFill>
              <a:effectLst/>
              <a:uFillTx/>
              <a:latin typeface="Arial"/>
            </a:endParaRPr>
          </a:p>
        </p:txBody>
      </p:sp>
      <p:sp>
        <p:nvSpPr>
          <p:cNvPr id="263"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Normalización y resolución auxiliar, con evidencia</a:t>
            </a:r>
            <a:endParaRPr lang="es-ES" sz="3000" b="0" u="none" strike="noStrike">
              <a:solidFill>
                <a:srgbClr val="000000"/>
              </a:solidFill>
              <a:effectLst/>
              <a:uFillTx/>
              <a:latin typeface="Arial"/>
            </a:endParaRPr>
          </a:p>
        </p:txBody>
      </p:sp>
      <p:sp>
        <p:nvSpPr>
          <p:cNvPr id="264" name="Rounded Rectangle 4"/>
          <p:cNvSpPr/>
          <p:nvPr/>
        </p:nvSpPr>
        <p:spPr>
          <a:xfrm>
            <a:off x="640080" y="1920240"/>
            <a:ext cx="2044080" cy="196560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5" name="TextBox 5"/>
          <p:cNvSpPr/>
          <p:nvPr/>
        </p:nvSpPr>
        <p:spPr>
          <a:xfrm>
            <a:off x="713160" y="2011680"/>
            <a:ext cx="1897920" cy="139860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1457</a:t>
            </a:r>
            <a:endParaRPr lang="es-ES" sz="3000" b="0" u="none" strike="noStrike">
              <a:solidFill>
                <a:srgbClr val="000000"/>
              </a:solidFill>
              <a:effectLst/>
              <a:uFillTx/>
              <a:latin typeface="Arial"/>
            </a:endParaRPr>
          </a:p>
        </p:txBody>
      </p:sp>
      <p:sp>
        <p:nvSpPr>
          <p:cNvPr id="266" name="TextBox 6"/>
          <p:cNvSpPr/>
          <p:nvPr/>
        </p:nvSpPr>
        <p:spPr>
          <a:xfrm>
            <a:off x="713160" y="3429000"/>
            <a:ext cx="189792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entradas normalizadas totales</a:t>
            </a:r>
            <a:endParaRPr lang="es-ES" sz="1050" b="0" u="none" strike="noStrike">
              <a:solidFill>
                <a:srgbClr val="000000"/>
              </a:solidFill>
              <a:effectLst/>
              <a:uFillTx/>
              <a:latin typeface="Arial"/>
            </a:endParaRPr>
          </a:p>
        </p:txBody>
      </p:sp>
      <p:sp>
        <p:nvSpPr>
          <p:cNvPr id="267" name="Rounded Rectangle 7"/>
          <p:cNvSpPr/>
          <p:nvPr/>
        </p:nvSpPr>
        <p:spPr>
          <a:xfrm>
            <a:off x="2849400" y="1920240"/>
            <a:ext cx="2044080" cy="196560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8" name="TextBox 8"/>
          <p:cNvSpPr/>
          <p:nvPr/>
        </p:nvSpPr>
        <p:spPr>
          <a:xfrm>
            <a:off x="2922480" y="2011680"/>
            <a:ext cx="1897920" cy="139860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1429</a:t>
            </a:r>
            <a:endParaRPr lang="es-ES" sz="3000" b="0" u="none" strike="noStrike">
              <a:solidFill>
                <a:srgbClr val="000000"/>
              </a:solidFill>
              <a:effectLst/>
              <a:uFillTx/>
              <a:latin typeface="Arial"/>
            </a:endParaRPr>
          </a:p>
        </p:txBody>
      </p:sp>
      <p:sp>
        <p:nvSpPr>
          <p:cNvPr id="269" name="TextBox 9"/>
          <p:cNvSpPr/>
          <p:nvPr/>
        </p:nvSpPr>
        <p:spPr>
          <a:xfrm>
            <a:off x="2922480" y="3429000"/>
            <a:ext cx="189792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presentes en manual y en el modelo en árbol</a:t>
            </a:r>
            <a:endParaRPr lang="es-ES" sz="1050" b="0" u="none" strike="noStrike">
              <a:solidFill>
                <a:srgbClr val="000000"/>
              </a:solidFill>
              <a:effectLst/>
              <a:uFillTx/>
              <a:latin typeface="Arial"/>
            </a:endParaRPr>
          </a:p>
        </p:txBody>
      </p:sp>
      <p:sp>
        <p:nvSpPr>
          <p:cNvPr id="270" name="Rounded Rectangle 10"/>
          <p:cNvSpPr/>
          <p:nvPr/>
        </p:nvSpPr>
        <p:spPr>
          <a:xfrm>
            <a:off x="5058360" y="1920240"/>
            <a:ext cx="2044080" cy="196560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1" name="TextBox 11"/>
          <p:cNvSpPr/>
          <p:nvPr/>
        </p:nvSpPr>
        <p:spPr>
          <a:xfrm>
            <a:off x="5131440" y="2011680"/>
            <a:ext cx="1897920" cy="139860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557</a:t>
            </a:r>
            <a:endParaRPr lang="es-ES" sz="3000" b="0" u="none" strike="noStrike">
              <a:solidFill>
                <a:srgbClr val="000000"/>
              </a:solidFill>
              <a:effectLst/>
              <a:uFillTx/>
              <a:latin typeface="Arial"/>
            </a:endParaRPr>
          </a:p>
        </p:txBody>
      </p:sp>
      <p:sp>
        <p:nvSpPr>
          <p:cNvPr id="272" name="TextBox 12"/>
          <p:cNvSpPr/>
          <p:nvPr/>
        </p:nvSpPr>
        <p:spPr>
          <a:xfrm>
            <a:off x="5131440" y="3429000"/>
            <a:ext cx="189792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declaran tabla de referencia en el manual</a:t>
            </a:r>
            <a:endParaRPr lang="es-ES" sz="1050" b="0" u="none" strike="noStrike">
              <a:solidFill>
                <a:srgbClr val="000000"/>
              </a:solidFill>
              <a:effectLst/>
              <a:uFillTx/>
              <a:latin typeface="Arial"/>
            </a:endParaRPr>
          </a:p>
        </p:txBody>
      </p:sp>
      <p:sp>
        <p:nvSpPr>
          <p:cNvPr id="273" name="Rounded Rectangle 13"/>
          <p:cNvSpPr/>
          <p:nvPr/>
        </p:nvSpPr>
        <p:spPr>
          <a:xfrm>
            <a:off x="7267680" y="1920240"/>
            <a:ext cx="2044080" cy="196560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4" name="TextBox 14"/>
          <p:cNvSpPr/>
          <p:nvPr/>
        </p:nvSpPr>
        <p:spPr>
          <a:xfrm>
            <a:off x="7340760" y="2011680"/>
            <a:ext cx="1897920" cy="139860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33</a:t>
            </a:r>
            <a:endParaRPr lang="es-ES" sz="3000" b="0" u="none" strike="noStrike">
              <a:solidFill>
                <a:srgbClr val="000000"/>
              </a:solidFill>
              <a:effectLst/>
              <a:uFillTx/>
              <a:latin typeface="Arial"/>
            </a:endParaRPr>
          </a:p>
        </p:txBody>
      </p:sp>
      <p:sp>
        <p:nvSpPr>
          <p:cNvPr id="275" name="TextBox 15"/>
          <p:cNvSpPr/>
          <p:nvPr/>
        </p:nvSpPr>
        <p:spPr>
          <a:xfrm>
            <a:off x="7340760" y="3429000"/>
            <a:ext cx="189792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discrepancias manual / árbol registradas</a:t>
            </a:r>
            <a:endParaRPr lang="es-ES" sz="1050" b="0" u="none" strike="noStrike">
              <a:solidFill>
                <a:srgbClr val="000000"/>
              </a:solidFill>
              <a:effectLst/>
              <a:uFillTx/>
              <a:latin typeface="Arial"/>
            </a:endParaRPr>
          </a:p>
        </p:txBody>
      </p:sp>
      <p:sp>
        <p:nvSpPr>
          <p:cNvPr id="276" name="Rounded Rectangle 16"/>
          <p:cNvSpPr/>
          <p:nvPr/>
        </p:nvSpPr>
        <p:spPr>
          <a:xfrm>
            <a:off x="9477000" y="1920240"/>
            <a:ext cx="2044080" cy="196560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7" name="TextBox 17"/>
          <p:cNvSpPr/>
          <p:nvPr/>
        </p:nvSpPr>
        <p:spPr>
          <a:xfrm>
            <a:off x="9550080" y="2011680"/>
            <a:ext cx="1897920" cy="139860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E09A3E"/>
                </a:solidFill>
                <a:effectLst/>
                <a:uFillTx/>
                <a:latin typeface="Cambria"/>
              </a:rPr>
              <a:t>1</a:t>
            </a:r>
            <a:endParaRPr lang="es-ES" sz="3000" b="0" u="none" strike="noStrike">
              <a:solidFill>
                <a:srgbClr val="000000"/>
              </a:solidFill>
              <a:effectLst/>
              <a:uFillTx/>
              <a:latin typeface="Arial"/>
            </a:endParaRPr>
          </a:p>
        </p:txBody>
      </p:sp>
      <p:sp>
        <p:nvSpPr>
          <p:cNvPr id="278" name="TextBox 18"/>
          <p:cNvSpPr/>
          <p:nvPr/>
        </p:nvSpPr>
        <p:spPr>
          <a:xfrm>
            <a:off x="9550080" y="3429000"/>
            <a:ext cx="189792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referencia sin resolver (CVN_AGENCY_C)</a:t>
            </a:r>
            <a:endParaRPr lang="es-ES" sz="1050" b="0" u="none" strike="noStrike">
              <a:solidFill>
                <a:srgbClr val="000000"/>
              </a:solidFill>
              <a:effectLst/>
              <a:uFillTx/>
              <a:latin typeface="Arial"/>
            </a:endParaRPr>
          </a:p>
        </p:txBody>
      </p:sp>
      <p:sp>
        <p:nvSpPr>
          <p:cNvPr id="279" name="Rounded Rectangle 19"/>
          <p:cNvSpPr/>
          <p:nvPr/>
        </p:nvSpPr>
        <p:spPr>
          <a:xfrm>
            <a:off x="640080" y="4160520"/>
            <a:ext cx="10881000" cy="173700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0" name="TextBox 20"/>
          <p:cNvSpPr/>
          <p:nvPr/>
        </p:nvSpPr>
        <p:spPr>
          <a:xfrm>
            <a:off x="868680" y="4343400"/>
            <a:ext cx="10423800" cy="141696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05000"/>
              </a:lnSpc>
              <a:spcAft>
                <a:spcPts val="799"/>
              </a:spcAft>
              <a:buClr>
                <a:srgbClr val="065A82"/>
              </a:buClr>
              <a:buSzPct val="55000"/>
              <a:buFont typeface="Arial"/>
              <a:buChar char="●"/>
            </a:pPr>
            <a:r>
              <a:rPr lang="en-US" sz="1250" b="1" u="none" strike="noStrike">
                <a:solidFill>
                  <a:srgbClr val="162230"/>
                </a:solidFill>
                <a:effectLst/>
                <a:uFillTx/>
                <a:latin typeface="Calibri"/>
              </a:rPr>
              <a:t>Evidencia, no suposición. </a:t>
            </a:r>
            <a:r>
              <a:rPr lang="en-US" sz="1250" b="0" u="none" strike="noStrike">
                <a:solidFill>
                  <a:srgbClr val="162230"/>
                </a:solidFill>
                <a:effectLst/>
                <a:uFillTx/>
                <a:latin typeface="Calibri"/>
              </a:rPr>
              <a:t>De las 557 entradas con tabla declarada, la resolución auxiliar se apoya en evidencia concreta del paquete; solo una queda sin resolver.</a:t>
            </a:r>
            <a:endParaRPr lang="es-ES" sz="1250" b="0" u="none" strike="noStrike">
              <a:solidFill>
                <a:srgbClr val="000000"/>
              </a:solidFill>
              <a:effectLst/>
              <a:uFillTx/>
              <a:latin typeface="Arial"/>
            </a:endParaRPr>
          </a:p>
          <a:p>
            <a:pPr marL="255960" indent="-255960" defTabSz="457200">
              <a:lnSpc>
                <a:spcPct val="105000"/>
              </a:lnSpc>
              <a:spcAft>
                <a:spcPts val="799"/>
              </a:spcAft>
              <a:buClr>
                <a:srgbClr val="065A82"/>
              </a:buClr>
              <a:buSzPct val="55000"/>
              <a:buFont typeface="Arial"/>
              <a:buChar char="●"/>
            </a:pPr>
            <a:r>
              <a:rPr lang="en-US" sz="1250" b="1" u="none" strike="noStrike">
                <a:solidFill>
                  <a:srgbClr val="162230"/>
                </a:solidFill>
                <a:effectLst/>
                <a:uFillTx/>
                <a:latin typeface="Calibri"/>
              </a:rPr>
              <a:t>El caso CVN_AGENCY_C. </a:t>
            </a:r>
            <a:r>
              <a:rPr lang="en-US" sz="1250" b="0" u="none" strike="noStrike">
                <a:solidFill>
                  <a:srgbClr val="162230"/>
                </a:solidFill>
                <a:effectLst/>
                <a:uFillTx/>
                <a:latin typeface="Calibri"/>
              </a:rPr>
              <a:t>El manual cita una tabla que no tiene equivalente localizable en el resto del paquete: se conserva como referencia no resuelta, en lugar de forzar una interpretación.</a:t>
            </a:r>
            <a:endParaRPr lang="es-E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2"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5 · IMPLEMENTACIÓN DEL PIPELINE</a:t>
            </a:r>
            <a:endParaRPr lang="es-ES" sz="1300" b="0" u="none" strike="noStrike">
              <a:solidFill>
                <a:srgbClr val="000000"/>
              </a:solidFill>
              <a:effectLst/>
              <a:uFillTx/>
              <a:latin typeface="Arial"/>
            </a:endParaRPr>
          </a:p>
        </p:txBody>
      </p:sp>
      <p:sp>
        <p:nvSpPr>
          <p:cNvPr id="283"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Política semántica: nueve formas, con trazabilidad</a:t>
            </a:r>
            <a:endParaRPr lang="es-ES" sz="3000" b="0" u="none" strike="noStrike">
              <a:solidFill>
                <a:srgbClr val="000000"/>
              </a:solidFill>
              <a:effectLst/>
              <a:uFillTx/>
              <a:latin typeface="Arial"/>
            </a:endParaRPr>
          </a:p>
        </p:txBody>
      </p:sp>
      <p:sp>
        <p:nvSpPr>
          <p:cNvPr id="284" name="Rounded Rectangle 4"/>
          <p:cNvSpPr/>
          <p:nvPr/>
        </p:nvSpPr>
        <p:spPr>
          <a:xfrm>
            <a:off x="640080" y="17830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5" name="TextBox 5"/>
          <p:cNvSpPr/>
          <p:nvPr/>
        </p:nvSpPr>
        <p:spPr>
          <a:xfrm>
            <a:off x="731520" y="17830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Texto</a:t>
            </a:r>
            <a:endParaRPr lang="es-ES" sz="1300" b="0" u="none" strike="noStrike">
              <a:solidFill>
                <a:srgbClr val="000000"/>
              </a:solidFill>
              <a:effectLst/>
              <a:uFillTx/>
              <a:latin typeface="Arial"/>
            </a:endParaRPr>
          </a:p>
        </p:txBody>
      </p:sp>
      <p:sp>
        <p:nvSpPr>
          <p:cNvPr id="286" name="Rounded Rectangle 6"/>
          <p:cNvSpPr/>
          <p:nvPr/>
        </p:nvSpPr>
        <p:spPr>
          <a:xfrm>
            <a:off x="4309920" y="17830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7" name="TextBox 7"/>
          <p:cNvSpPr/>
          <p:nvPr/>
        </p:nvSpPr>
        <p:spPr>
          <a:xfrm>
            <a:off x="4401360" y="17830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Fecha</a:t>
            </a:r>
            <a:endParaRPr lang="es-ES" sz="1300" b="0" u="none" strike="noStrike">
              <a:solidFill>
                <a:srgbClr val="000000"/>
              </a:solidFill>
              <a:effectLst/>
              <a:uFillTx/>
              <a:latin typeface="Arial"/>
            </a:endParaRPr>
          </a:p>
        </p:txBody>
      </p:sp>
      <p:sp>
        <p:nvSpPr>
          <p:cNvPr id="288" name="Rounded Rectangle 8"/>
          <p:cNvSpPr/>
          <p:nvPr/>
        </p:nvSpPr>
        <p:spPr>
          <a:xfrm>
            <a:off x="7979760" y="17830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9" name="TextBox 9"/>
          <p:cNvSpPr/>
          <p:nvPr/>
        </p:nvSpPr>
        <p:spPr>
          <a:xfrm>
            <a:off x="8071200" y="17830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Número</a:t>
            </a:r>
            <a:endParaRPr lang="es-ES" sz="1300" b="0" u="none" strike="noStrike">
              <a:solidFill>
                <a:srgbClr val="000000"/>
              </a:solidFill>
              <a:effectLst/>
              <a:uFillTx/>
              <a:latin typeface="Arial"/>
            </a:endParaRPr>
          </a:p>
        </p:txBody>
      </p:sp>
      <p:sp>
        <p:nvSpPr>
          <p:cNvPr id="290" name="Rounded Rectangle 10"/>
          <p:cNvSpPr/>
          <p:nvPr/>
        </p:nvSpPr>
        <p:spPr>
          <a:xfrm>
            <a:off x="640080" y="24778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1" name="TextBox 11"/>
          <p:cNvSpPr/>
          <p:nvPr/>
        </p:nvSpPr>
        <p:spPr>
          <a:xfrm>
            <a:off x="731520" y="24778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Enum. cerrada</a:t>
            </a:r>
            <a:endParaRPr lang="es-ES" sz="1300" b="0" u="none" strike="noStrike">
              <a:solidFill>
                <a:srgbClr val="000000"/>
              </a:solidFill>
              <a:effectLst/>
              <a:uFillTx/>
              <a:latin typeface="Arial"/>
            </a:endParaRPr>
          </a:p>
        </p:txBody>
      </p:sp>
      <p:sp>
        <p:nvSpPr>
          <p:cNvPr id="292" name="Rounded Rectangle 12"/>
          <p:cNvSpPr/>
          <p:nvPr/>
        </p:nvSpPr>
        <p:spPr>
          <a:xfrm>
            <a:off x="4309920" y="24778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3" name="TextBox 13"/>
          <p:cNvSpPr/>
          <p:nvPr/>
        </p:nvSpPr>
        <p:spPr>
          <a:xfrm>
            <a:off x="4401360" y="24778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Catálogo abierto</a:t>
            </a:r>
            <a:endParaRPr lang="es-ES" sz="1300" b="0" u="none" strike="noStrike">
              <a:solidFill>
                <a:srgbClr val="000000"/>
              </a:solidFill>
              <a:effectLst/>
              <a:uFillTx/>
              <a:latin typeface="Arial"/>
            </a:endParaRPr>
          </a:p>
        </p:txBody>
      </p:sp>
      <p:sp>
        <p:nvSpPr>
          <p:cNvPr id="294" name="Rounded Rectangle 14"/>
          <p:cNvSpPr/>
          <p:nvPr/>
        </p:nvSpPr>
        <p:spPr>
          <a:xfrm>
            <a:off x="7979760" y="247788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5" name="TextBox 15"/>
          <p:cNvSpPr/>
          <p:nvPr/>
        </p:nvSpPr>
        <p:spPr>
          <a:xfrm>
            <a:off x="8071200" y="247788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Referencia a entidad</a:t>
            </a:r>
            <a:endParaRPr lang="es-ES" sz="1300" b="0" u="none" strike="noStrike">
              <a:solidFill>
                <a:srgbClr val="000000"/>
              </a:solidFill>
              <a:effectLst/>
              <a:uFillTx/>
              <a:latin typeface="Arial"/>
            </a:endParaRPr>
          </a:p>
        </p:txBody>
      </p:sp>
      <p:sp>
        <p:nvSpPr>
          <p:cNvPr id="296" name="Rounded Rectangle 16"/>
          <p:cNvSpPr/>
          <p:nvPr/>
        </p:nvSpPr>
        <p:spPr>
          <a:xfrm>
            <a:off x="640080" y="317304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7" name="TextBox 17"/>
          <p:cNvSpPr/>
          <p:nvPr/>
        </p:nvSpPr>
        <p:spPr>
          <a:xfrm>
            <a:off x="731520" y="317304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Término de tesauro</a:t>
            </a:r>
            <a:endParaRPr lang="es-ES" sz="1300" b="0" u="none" strike="noStrike">
              <a:solidFill>
                <a:srgbClr val="000000"/>
              </a:solidFill>
              <a:effectLst/>
              <a:uFillTx/>
              <a:latin typeface="Arial"/>
            </a:endParaRPr>
          </a:p>
        </p:txBody>
      </p:sp>
      <p:sp>
        <p:nvSpPr>
          <p:cNvPr id="298" name="Rounded Rectangle 18"/>
          <p:cNvSpPr/>
          <p:nvPr/>
        </p:nvSpPr>
        <p:spPr>
          <a:xfrm>
            <a:off x="4309920" y="317304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9" name="TextBox 19"/>
          <p:cNvSpPr/>
          <p:nvPr/>
        </p:nvSpPr>
        <p:spPr>
          <a:xfrm>
            <a:off x="4401360" y="317304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Subtipo</a:t>
            </a:r>
            <a:endParaRPr lang="es-ES" sz="1300" b="0" u="none" strike="noStrike">
              <a:solidFill>
                <a:srgbClr val="000000"/>
              </a:solidFill>
              <a:effectLst/>
              <a:uFillTx/>
              <a:latin typeface="Arial"/>
            </a:endParaRPr>
          </a:p>
        </p:txBody>
      </p:sp>
      <p:sp>
        <p:nvSpPr>
          <p:cNvPr id="300" name="Rounded Rectangle 20"/>
          <p:cNvSpPr/>
          <p:nvPr/>
        </p:nvSpPr>
        <p:spPr>
          <a:xfrm>
            <a:off x="7979760" y="3173040"/>
            <a:ext cx="3541320" cy="566640"/>
          </a:xfrm>
          <a:prstGeom prst="roundRect">
            <a:avLst>
              <a:gd name="adj" fmla="val 2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1"/>
          <p:cNvSpPr/>
          <p:nvPr/>
        </p:nvSpPr>
        <p:spPr>
          <a:xfrm>
            <a:off x="8071200" y="3173040"/>
            <a:ext cx="3358440" cy="566640"/>
          </a:xfrm>
          <a:prstGeom prst="rect">
            <a:avLst/>
          </a:prstGeom>
          <a:noFill/>
          <a:ln w="0">
            <a:noFill/>
          </a:ln>
        </p:spPr>
        <p:style>
          <a:lnRef idx="0"/>
          <a:fillRef idx="0"/>
          <a:effectRef idx="0"/>
          <a:fontRef idx="minor"/>
        </p:style>
        <p:txBody>
          <a:bodyPr lIns="0" tIns="0" rIns="0" bIns="0" anchor="ctr">
            <a:spAutoFit/>
          </a:bodyPr>
          <a:p>
            <a:pPr algn="ctr" defTabSz="457200">
              <a:lnSpc>
                <a:spcPct val="100000"/>
              </a:lnSpc>
            </a:pPr>
            <a:r>
              <a:rPr lang="en-US" sz="1300" b="1" u="none" strike="noStrike">
                <a:solidFill>
                  <a:srgbClr val="065A82"/>
                </a:solidFill>
                <a:effectLst/>
                <a:uFillTx/>
                <a:latin typeface="Calibri"/>
              </a:rPr>
              <a:t>Referencia no resuelta</a:t>
            </a:r>
            <a:endParaRPr lang="es-ES" sz="1300" b="0" u="none" strike="noStrike">
              <a:solidFill>
                <a:srgbClr val="000000"/>
              </a:solidFill>
              <a:effectLst/>
              <a:uFillTx/>
              <a:latin typeface="Arial"/>
            </a:endParaRPr>
          </a:p>
        </p:txBody>
      </p:sp>
      <p:sp>
        <p:nvSpPr>
          <p:cNvPr id="302" name="TextBox 22"/>
          <p:cNvSpPr/>
          <p:nvPr/>
        </p:nvSpPr>
        <p:spPr>
          <a:xfrm>
            <a:off x="640080" y="3959280"/>
            <a:ext cx="1088100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1243A"/>
                </a:solidFill>
                <a:effectLst/>
                <a:uFillTx/>
                <a:latin typeface="Calibri"/>
              </a:rPr>
              <a:t>Ejemplo: campo de sexo (código 000.010.000.030, tabla CVN_SEX_A)</a:t>
            </a:r>
            <a:endParaRPr lang="es-ES" sz="1250" b="0" u="none" strike="noStrike">
              <a:solidFill>
                <a:srgbClr val="000000"/>
              </a:solidFill>
              <a:effectLst/>
              <a:uFillTx/>
              <a:latin typeface="Arial"/>
            </a:endParaRPr>
          </a:p>
        </p:txBody>
      </p:sp>
      <p:sp>
        <p:nvSpPr>
          <p:cNvPr id="303" name="Rounded Rectangle 23"/>
          <p:cNvSpPr/>
          <p:nvPr/>
        </p:nvSpPr>
        <p:spPr>
          <a:xfrm>
            <a:off x="640080" y="4343400"/>
            <a:ext cx="10881000" cy="1188360"/>
          </a:xfrm>
          <a:prstGeom prst="roundRect">
            <a:avLst>
              <a:gd name="adj" fmla="val 8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4" name="TextBox 24"/>
          <p:cNvSpPr/>
          <p:nvPr/>
        </p:nvSpPr>
        <p:spPr>
          <a:xfrm>
            <a:off x="914400" y="4462200"/>
            <a:ext cx="5943240" cy="95976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300" b="0" u="none" strike="noStrike">
                <a:solidFill>
                  <a:srgbClr val="E9F1F7"/>
                </a:solidFill>
                <a:effectLst/>
                <a:uFillTx/>
                <a:latin typeface="Courier New"/>
              </a:rPr>
              <a:t>{</a:t>
            </a:r>
            <a:endParaRPr lang="es-ES" sz="1300" b="0" u="none" strike="noStrike">
              <a:solidFill>
                <a:srgbClr val="000000"/>
              </a:solidFill>
              <a:effectLst/>
              <a:uFillTx/>
              <a:latin typeface="Arial"/>
            </a:endParaRPr>
          </a:p>
          <a:p>
            <a:pPr defTabSz="457200">
              <a:lnSpc>
                <a:spcPct val="115000"/>
              </a:lnSpc>
            </a:pPr>
            <a:r>
              <a:rPr lang="en-US" sz="1300" b="0" u="none" strike="noStrike">
                <a:solidFill>
                  <a:srgbClr val="E9F1F7"/>
                </a:solidFill>
                <a:effectLst/>
                <a:uFillTx/>
                <a:latin typeface="Courier New"/>
              </a:rPr>
              <a:t>  "code": "000", "label": "Mujer",</a:t>
            </a:r>
            <a:endParaRPr lang="es-ES" sz="1300" b="0" u="none" strike="noStrike">
              <a:solidFill>
                <a:srgbClr val="000000"/>
              </a:solidFill>
              <a:effectLst/>
              <a:uFillTx/>
              <a:latin typeface="Arial"/>
            </a:endParaRPr>
          </a:p>
          <a:p>
            <a:pPr defTabSz="457200">
              <a:lnSpc>
                <a:spcPct val="115000"/>
              </a:lnSpc>
            </a:pPr>
            <a:r>
              <a:rPr lang="en-US" sz="1300" b="0" u="none" strike="noStrike">
                <a:solidFill>
                  <a:srgbClr val="E9F1F7"/>
                </a:solidFill>
                <a:effectLst/>
                <a:uFillTx/>
                <a:latin typeface="Courier New"/>
              </a:rPr>
              <a:t>  "source": "CVN_SEX_A"</a:t>
            </a:r>
            <a:endParaRPr lang="es-ES" sz="1300" b="0" u="none" strike="noStrike">
              <a:solidFill>
                <a:srgbClr val="000000"/>
              </a:solidFill>
              <a:effectLst/>
              <a:uFillTx/>
              <a:latin typeface="Arial"/>
            </a:endParaRPr>
          </a:p>
          <a:p>
            <a:pPr defTabSz="457200">
              <a:lnSpc>
                <a:spcPct val="115000"/>
              </a:lnSpc>
            </a:pPr>
            <a:r>
              <a:rPr lang="en-US" sz="1300" b="0" u="none" strike="noStrike">
                <a:solidFill>
                  <a:srgbClr val="E9F1F7"/>
                </a:solidFill>
                <a:effectLst/>
                <a:uFillTx/>
                <a:latin typeface="Courier New"/>
              </a:rPr>
              <a:t>}</a:t>
            </a:r>
            <a:endParaRPr lang="es-ES" sz="1300" b="0" u="none" strike="noStrike">
              <a:solidFill>
                <a:srgbClr val="000000"/>
              </a:solidFill>
              <a:effectLst/>
              <a:uFillTx/>
              <a:latin typeface="Arial"/>
            </a:endParaRPr>
          </a:p>
        </p:txBody>
      </p:sp>
      <p:sp>
        <p:nvSpPr>
          <p:cNvPr id="305" name="TextBox 25"/>
          <p:cNvSpPr/>
          <p:nvPr/>
        </p:nvSpPr>
        <p:spPr>
          <a:xfrm>
            <a:off x="7040880" y="4462200"/>
            <a:ext cx="4205880" cy="95976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100" b="0" u="none" strike="noStrike">
                <a:solidFill>
                  <a:srgbClr val="A9BFD1"/>
                </a:solidFill>
                <a:effectLst/>
                <a:uFillTx/>
                <a:latin typeface="Calibri"/>
              </a:rPr>
              <a:t>Enumeración cerrada con solo dos valores posibles: forma semántica más simple, usada como ejemplo guía en toda la memoria.</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7"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5 · IMPLEMENTACIÓN DEL PIPELINE</a:t>
            </a:r>
            <a:endParaRPr lang="es-ES" sz="1300" b="0" u="none" strike="noStrike">
              <a:solidFill>
                <a:srgbClr val="000000"/>
              </a:solidFill>
              <a:effectLst/>
              <a:uFillTx/>
              <a:latin typeface="Arial"/>
            </a:endParaRPr>
          </a:p>
        </p:txBody>
      </p:sp>
      <p:sp>
        <p:nvSpPr>
          <p:cNvPr id="308"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Del modelo de dominio al modelo conceptual agnóstico</a:t>
            </a:r>
            <a:endParaRPr lang="es-ES" sz="3000" b="0" u="none" strike="noStrike">
              <a:solidFill>
                <a:srgbClr val="000000"/>
              </a:solidFill>
              <a:effectLst/>
              <a:uFillTx/>
              <a:latin typeface="Arial"/>
            </a:endParaRPr>
          </a:p>
        </p:txBody>
      </p:sp>
      <p:sp>
        <p:nvSpPr>
          <p:cNvPr id="309" name="Rounded Rectangle 4"/>
          <p:cNvSpPr/>
          <p:nvPr/>
        </p:nvSpPr>
        <p:spPr>
          <a:xfrm>
            <a:off x="640080" y="1828800"/>
            <a:ext cx="3428640" cy="120672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0" name="TextBox 5"/>
          <p:cNvSpPr/>
          <p:nvPr/>
        </p:nvSpPr>
        <p:spPr>
          <a:xfrm>
            <a:off x="713160" y="1920240"/>
            <a:ext cx="3282480" cy="63972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105</a:t>
            </a:r>
            <a:endParaRPr lang="es-ES" sz="3000" b="0" u="none" strike="noStrike">
              <a:solidFill>
                <a:srgbClr val="000000"/>
              </a:solidFill>
              <a:effectLst/>
              <a:uFillTx/>
              <a:latin typeface="Arial"/>
            </a:endParaRPr>
          </a:p>
        </p:txBody>
      </p:sp>
      <p:sp>
        <p:nvSpPr>
          <p:cNvPr id="311" name="TextBox 6"/>
          <p:cNvSpPr/>
          <p:nvPr/>
        </p:nvSpPr>
        <p:spPr>
          <a:xfrm>
            <a:off x="713160" y="2578680"/>
            <a:ext cx="328248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archivos de modelos de dominio generados</a:t>
            </a:r>
            <a:endParaRPr lang="es-ES" sz="1050" b="0" u="none" strike="noStrike">
              <a:solidFill>
                <a:srgbClr val="000000"/>
              </a:solidFill>
              <a:effectLst/>
              <a:uFillTx/>
              <a:latin typeface="Arial"/>
            </a:endParaRPr>
          </a:p>
        </p:txBody>
      </p:sp>
      <p:sp>
        <p:nvSpPr>
          <p:cNvPr id="312" name="Rounded Rectangle 7"/>
          <p:cNvSpPr/>
          <p:nvPr/>
        </p:nvSpPr>
        <p:spPr>
          <a:xfrm>
            <a:off x="640080" y="3182040"/>
            <a:ext cx="3428640" cy="120672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3" name="TextBox 8"/>
          <p:cNvSpPr/>
          <p:nvPr/>
        </p:nvSpPr>
        <p:spPr>
          <a:xfrm>
            <a:off x="713160" y="3273480"/>
            <a:ext cx="3282480" cy="63972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182</a:t>
            </a:r>
            <a:endParaRPr lang="es-ES" sz="3000" b="0" u="none" strike="noStrike">
              <a:solidFill>
                <a:srgbClr val="000000"/>
              </a:solidFill>
              <a:effectLst/>
              <a:uFillTx/>
              <a:latin typeface="Arial"/>
            </a:endParaRPr>
          </a:p>
        </p:txBody>
      </p:sp>
      <p:sp>
        <p:nvSpPr>
          <p:cNvPr id="314" name="TextBox 9"/>
          <p:cNvSpPr/>
          <p:nvPr/>
        </p:nvSpPr>
        <p:spPr>
          <a:xfrm>
            <a:off x="713160" y="3931920"/>
            <a:ext cx="328248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definiciones en el JSON Schema resultante</a:t>
            </a:r>
            <a:endParaRPr lang="es-ES" sz="1050" b="0" u="none" strike="noStrike">
              <a:solidFill>
                <a:srgbClr val="000000"/>
              </a:solidFill>
              <a:effectLst/>
              <a:uFillTx/>
              <a:latin typeface="Arial"/>
            </a:endParaRPr>
          </a:p>
        </p:txBody>
      </p:sp>
      <p:sp>
        <p:nvSpPr>
          <p:cNvPr id="315" name="Rounded Rectangle 10"/>
          <p:cNvSpPr/>
          <p:nvPr/>
        </p:nvSpPr>
        <p:spPr>
          <a:xfrm>
            <a:off x="640080" y="4535280"/>
            <a:ext cx="3428640" cy="120672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6" name="TextBox 11"/>
          <p:cNvSpPr/>
          <p:nvPr/>
        </p:nvSpPr>
        <p:spPr>
          <a:xfrm>
            <a:off x="713160" y="4626720"/>
            <a:ext cx="3282480" cy="63972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74</a:t>
            </a:r>
            <a:endParaRPr lang="es-ES" sz="3000" b="0" u="none" strike="noStrike">
              <a:solidFill>
                <a:srgbClr val="000000"/>
              </a:solidFill>
              <a:effectLst/>
              <a:uFillTx/>
              <a:latin typeface="Arial"/>
            </a:endParaRPr>
          </a:p>
        </p:txBody>
      </p:sp>
      <p:sp>
        <p:nvSpPr>
          <p:cNvPr id="317" name="TextBox 12"/>
          <p:cNvSpPr/>
          <p:nvPr/>
        </p:nvSpPr>
        <p:spPr>
          <a:xfrm>
            <a:off x="713160" y="5285160"/>
            <a:ext cx="328248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de esas definiciones son vocabularios controlados</a:t>
            </a:r>
            <a:endParaRPr lang="es-ES" sz="1050" b="0" u="none" strike="noStrike">
              <a:solidFill>
                <a:srgbClr val="000000"/>
              </a:solidFill>
              <a:effectLst/>
              <a:uFillTx/>
              <a:latin typeface="Arial"/>
            </a:endParaRPr>
          </a:p>
        </p:txBody>
      </p:sp>
      <p:sp>
        <p:nvSpPr>
          <p:cNvPr id="318" name="TextBox 13"/>
          <p:cNvSpPr/>
          <p:nvPr/>
        </p:nvSpPr>
        <p:spPr>
          <a:xfrm>
            <a:off x="640080" y="5906880"/>
            <a:ext cx="3428640" cy="77688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i="1" u="none" strike="noStrike">
                <a:solidFill>
                  <a:srgbClr val="5B6B7A"/>
                </a:solidFill>
                <a:effectLst/>
                <a:uFillTx/>
                <a:latin typeface="Calibri"/>
              </a:rPr>
              <a:t>105 = 101 módulos por concepto curricular + 1 módulo solo-manual + 1 módulo de nodos de árbol + 1 módulo de 13 enumeraciones.</a:t>
            </a:r>
            <a:endParaRPr lang="es-ES" sz="1050" b="0" u="none" strike="noStrike">
              <a:solidFill>
                <a:srgbClr val="000000"/>
              </a:solidFill>
              <a:effectLst/>
              <a:uFillTx/>
              <a:latin typeface="Arial"/>
            </a:endParaRPr>
          </a:p>
        </p:txBody>
      </p:sp>
      <p:pic>
        <p:nvPicPr>
          <p:cNvPr id="319" name="Picture 14" descr="open_cvn_presentation_overview.png"/>
          <p:cNvPicPr/>
          <p:nvPr/>
        </p:nvPicPr>
        <p:blipFill>
          <a:blip r:embed="rId1"/>
          <a:stretch/>
        </p:blipFill>
        <p:spPr>
          <a:xfrm>
            <a:off x="4343400" y="2400840"/>
            <a:ext cx="7177680" cy="310752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1"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6 · FORMATO OPEN CVN Y HERRAMIENTA</a:t>
            </a:r>
            <a:endParaRPr lang="es-ES" sz="1300" b="0" u="none" strike="noStrike">
              <a:solidFill>
                <a:srgbClr val="000000"/>
              </a:solidFill>
              <a:effectLst/>
              <a:uFillTx/>
              <a:latin typeface="Arial"/>
            </a:endParaRPr>
          </a:p>
        </p:txBody>
      </p:sp>
      <p:sp>
        <p:nvSpPr>
          <p:cNvPr id="322"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El formato Open CVN JSON</a:t>
            </a:r>
            <a:endParaRPr lang="es-ES" sz="3000" b="0" u="none" strike="noStrike">
              <a:solidFill>
                <a:srgbClr val="000000"/>
              </a:solidFill>
              <a:effectLst/>
              <a:uFillTx/>
              <a:latin typeface="Arial"/>
            </a:endParaRPr>
          </a:p>
        </p:txBody>
      </p:sp>
      <p:sp>
        <p:nvSpPr>
          <p:cNvPr id="323" name="Rounded Rectangle 4"/>
          <p:cNvSpPr/>
          <p:nvPr/>
        </p:nvSpPr>
        <p:spPr>
          <a:xfrm>
            <a:off x="640080" y="1783080"/>
            <a:ext cx="5486040" cy="4160160"/>
          </a:xfrm>
          <a:prstGeom prst="roundRect">
            <a:avLst>
              <a:gd name="adj" fmla="val 6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4" name="TextBox 5"/>
          <p:cNvSpPr/>
          <p:nvPr/>
        </p:nvSpPr>
        <p:spPr>
          <a:xfrm>
            <a:off x="914400" y="2011680"/>
            <a:ext cx="4937400" cy="3748680"/>
          </a:xfrm>
          <a:prstGeom prst="rect">
            <a:avLst/>
          </a:prstGeom>
          <a:noFill/>
          <a:ln w="0">
            <a:noFill/>
          </a:ln>
        </p:spPr>
        <p:style>
          <a:lnRef idx="0"/>
          <a:fillRef idx="0"/>
          <a:effectRef idx="0"/>
          <a:fontRef idx="minor"/>
        </p:style>
        <p:txBody>
          <a:bodyPr lIns="0" tIns="0" rIns="0" bIns="0" anchor="t">
            <a:spAutoFit/>
          </a:bodyPr>
          <a:p>
            <a:pPr defTabSz="457200">
              <a:lnSpc>
                <a:spcPct val="128000"/>
              </a:lnSpc>
            </a:pPr>
            <a:r>
              <a:rPr lang="en-US" sz="1400" b="0" u="none" strike="noStrike">
                <a:solidFill>
                  <a:srgbClr val="E9F1F7"/>
                </a:solidFill>
                <a:effectLst/>
                <a:uFillTx/>
                <a:latin typeface="Courier New"/>
              </a:rPr>
              <a:t>{</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"schema_version": "0.1.0",</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"metadata": { "language": "es"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"curriculum":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"identity":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"education":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"research":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"professional_experience":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"achievements":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"other":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  "extensions": {}</a:t>
            </a:r>
            <a:endParaRPr lang="es-ES" sz="1400" b="0" u="none" strike="noStrike">
              <a:solidFill>
                <a:srgbClr val="000000"/>
              </a:solidFill>
              <a:effectLst/>
              <a:uFillTx/>
              <a:latin typeface="Arial"/>
            </a:endParaRPr>
          </a:p>
          <a:p>
            <a:pPr defTabSz="457200">
              <a:lnSpc>
                <a:spcPct val="128000"/>
              </a:lnSpc>
            </a:pPr>
            <a:r>
              <a:rPr lang="en-US" sz="1400" b="0" u="none" strike="noStrike">
                <a:solidFill>
                  <a:srgbClr val="E9F1F7"/>
                </a:solidFill>
                <a:effectLst/>
                <a:uFillTx/>
                <a:latin typeface="Courier New"/>
              </a:rPr>
              <a:t>}</a:t>
            </a:r>
            <a:endParaRPr lang="es-ES" sz="1400" b="0" u="none" strike="noStrike">
              <a:solidFill>
                <a:srgbClr val="000000"/>
              </a:solidFill>
              <a:effectLst/>
              <a:uFillTx/>
              <a:latin typeface="Arial"/>
            </a:endParaRPr>
          </a:p>
        </p:txBody>
      </p:sp>
      <p:sp>
        <p:nvSpPr>
          <p:cNvPr id="325" name="TextBox 6"/>
          <p:cNvSpPr/>
          <p:nvPr/>
        </p:nvSpPr>
        <p:spPr>
          <a:xfrm>
            <a:off x="6400800" y="1783080"/>
            <a:ext cx="5120280" cy="420588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10000"/>
              </a:lnSpc>
              <a:spcAft>
                <a:spcPts val="1400"/>
              </a:spcAft>
              <a:buClr>
                <a:srgbClr val="065A82"/>
              </a:buClr>
              <a:buSzPct val="55000"/>
              <a:buFont typeface="Arial"/>
              <a:buChar char="●"/>
            </a:pPr>
            <a:r>
              <a:rPr lang="en-US" sz="1450" b="1" u="none" strike="noStrike">
                <a:solidFill>
                  <a:srgbClr val="162230"/>
                </a:solidFill>
                <a:effectLst/>
                <a:uFillTx/>
                <a:latin typeface="Calibri"/>
              </a:rPr>
              <a:t>schema_version. </a:t>
            </a:r>
            <a:r>
              <a:rPr lang="en-US" sz="1450" b="0" u="none" strike="noStrike">
                <a:solidFill>
                  <a:srgbClr val="162230"/>
                </a:solidFill>
                <a:effectLst/>
                <a:uFillTx/>
                <a:latin typeface="Calibri"/>
              </a:rPr>
              <a:t>identifica la versión del formato, no la del JSON Schema.</a:t>
            </a:r>
            <a:endParaRPr lang="es-ES" sz="1450" b="0" u="none" strike="noStrike">
              <a:solidFill>
                <a:srgbClr val="000000"/>
              </a:solidFill>
              <a:effectLst/>
              <a:uFillTx/>
              <a:latin typeface="Arial"/>
            </a:endParaRPr>
          </a:p>
          <a:p>
            <a:pPr marL="255960" indent="-255960" defTabSz="457200">
              <a:lnSpc>
                <a:spcPct val="110000"/>
              </a:lnSpc>
              <a:spcAft>
                <a:spcPts val="1400"/>
              </a:spcAft>
              <a:buClr>
                <a:srgbClr val="065A82"/>
              </a:buClr>
              <a:buSzPct val="55000"/>
              <a:buFont typeface="Arial"/>
              <a:buChar char="●"/>
            </a:pPr>
            <a:r>
              <a:rPr lang="en-US" sz="1450" b="1" u="none" strike="noStrike">
                <a:solidFill>
                  <a:srgbClr val="162230"/>
                </a:solidFill>
                <a:effectLst/>
                <a:uFillTx/>
                <a:latin typeface="Calibri"/>
              </a:rPr>
              <a:t>metadata. </a:t>
            </a:r>
            <a:r>
              <a:rPr lang="en-US" sz="1450" b="0" u="none" strike="noStrike">
                <a:solidFill>
                  <a:srgbClr val="162230"/>
                </a:solidFill>
                <a:effectLst/>
                <a:uFillTx/>
                <a:latin typeface="Calibri"/>
              </a:rPr>
              <a:t>describe el documento, no su contenido curricular.</a:t>
            </a:r>
            <a:endParaRPr lang="es-ES" sz="1450" b="0" u="none" strike="noStrike">
              <a:solidFill>
                <a:srgbClr val="000000"/>
              </a:solidFill>
              <a:effectLst/>
              <a:uFillTx/>
              <a:latin typeface="Arial"/>
            </a:endParaRPr>
          </a:p>
          <a:p>
            <a:pPr marL="255960" indent="-255960" defTabSz="457200">
              <a:lnSpc>
                <a:spcPct val="110000"/>
              </a:lnSpc>
              <a:spcAft>
                <a:spcPts val="1400"/>
              </a:spcAft>
              <a:buClr>
                <a:srgbClr val="065A82"/>
              </a:buClr>
              <a:buSzPct val="55000"/>
              <a:buFont typeface="Arial"/>
              <a:buChar char="●"/>
            </a:pPr>
            <a:r>
              <a:rPr lang="en-US" sz="1450" b="1" u="none" strike="noStrike">
                <a:solidFill>
                  <a:srgbClr val="162230"/>
                </a:solidFill>
                <a:effectLst/>
                <a:uFillTx/>
                <a:latin typeface="Calibri"/>
              </a:rPr>
              <a:t>curriculum. </a:t>
            </a:r>
            <a:r>
              <a:rPr lang="en-US" sz="1450" b="0" u="none" strike="noStrike">
                <a:solidFill>
                  <a:srgbClr val="162230"/>
                </a:solidFill>
                <a:effectLst/>
                <a:uFillTx/>
                <a:latin typeface="Calibri"/>
              </a:rPr>
              <a:t>la información propiamente dicha, organizada por área conceptual del dominio académico.</a:t>
            </a:r>
            <a:endParaRPr lang="es-ES" sz="1450" b="0" u="none" strike="noStrike">
              <a:solidFill>
                <a:srgbClr val="000000"/>
              </a:solidFill>
              <a:effectLst/>
              <a:uFillTx/>
              <a:latin typeface="Arial"/>
            </a:endParaRPr>
          </a:p>
          <a:p>
            <a:pPr marL="255960" indent="-255960" defTabSz="457200">
              <a:lnSpc>
                <a:spcPct val="110000"/>
              </a:lnSpc>
              <a:spcAft>
                <a:spcPts val="1400"/>
              </a:spcAft>
              <a:buClr>
                <a:srgbClr val="065A82"/>
              </a:buClr>
              <a:buSzPct val="55000"/>
              <a:buFont typeface="Arial"/>
              <a:buChar char="●"/>
            </a:pPr>
            <a:r>
              <a:rPr lang="en-US" sz="1450" b="1" u="none" strike="noStrike">
                <a:solidFill>
                  <a:srgbClr val="162230"/>
                </a:solidFill>
                <a:effectLst/>
                <a:uFillTx/>
                <a:latin typeface="Calibri"/>
              </a:rPr>
              <a:t>extensions. </a:t>
            </a:r>
            <a:r>
              <a:rPr lang="en-US" sz="1450" b="0" u="none" strike="noStrike">
                <a:solidFill>
                  <a:srgbClr val="162230"/>
                </a:solidFill>
                <a:effectLst/>
                <a:uFillTx/>
                <a:latin typeface="Calibri"/>
              </a:rPr>
              <a:t>opcional, reservado para metadatos de una herramienta concreta.</a:t>
            </a:r>
            <a:endParaRPr lang="es-ES" sz="1450" b="0" u="none" strike="noStrike">
              <a:solidFill>
                <a:srgbClr val="000000"/>
              </a:solidFill>
              <a:effectLst/>
              <a:uFillTx/>
              <a:latin typeface="Arial"/>
            </a:endParaRPr>
          </a:p>
        </p:txBody>
      </p:sp>
      <p:sp>
        <p:nvSpPr>
          <p:cNvPr id="326" name="TextBox 7"/>
          <p:cNvSpPr/>
          <p:nvPr/>
        </p:nvSpPr>
        <p:spPr>
          <a:xfrm>
            <a:off x="6400800" y="5349240"/>
            <a:ext cx="5120280" cy="6854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150" b="0" i="1" u="none" strike="noStrike">
                <a:solidFill>
                  <a:srgbClr val="5B6B7A"/>
                </a:solidFill>
                <a:effectLst/>
                <a:uFillTx/>
                <a:latin typeface="Calibri"/>
              </a:rPr>
              <a:t>Los valores controlados comparten una misma forma: code, label, source y, opcionalmente, raw_value o uri.</a:t>
            </a:r>
            <a:endParaRPr lang="es-E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8"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6 · FORMATO OPEN CVN Y HERRAMIENTA</a:t>
            </a:r>
            <a:endParaRPr lang="es-ES" sz="1300" b="0" u="none" strike="noStrike">
              <a:solidFill>
                <a:srgbClr val="000000"/>
              </a:solidFill>
              <a:effectLst/>
              <a:uFillTx/>
              <a:latin typeface="Arial"/>
            </a:endParaRPr>
          </a:p>
        </p:txBody>
      </p:sp>
      <p:sp>
        <p:nvSpPr>
          <p:cNvPr id="329"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Parser y validador: un contrato con cinco estados</a:t>
            </a:r>
            <a:endParaRPr lang="es-ES" sz="3000" b="0" u="none" strike="noStrike">
              <a:solidFill>
                <a:srgbClr val="000000"/>
              </a:solidFill>
              <a:effectLst/>
              <a:uFillTx/>
              <a:latin typeface="Arial"/>
            </a:endParaRPr>
          </a:p>
        </p:txBody>
      </p:sp>
      <p:sp>
        <p:nvSpPr>
          <p:cNvPr id="330" name="Rounded Rectangle 4"/>
          <p:cNvSpPr/>
          <p:nvPr/>
        </p:nvSpPr>
        <p:spPr>
          <a:xfrm>
            <a:off x="640080" y="1828800"/>
            <a:ext cx="5074560" cy="566640"/>
          </a:xfrm>
          <a:prstGeom prst="roundRect">
            <a:avLst>
              <a:gd name="adj" fmla="val 50000"/>
            </a:avLst>
          </a:prstGeom>
          <a:solidFill>
            <a:srgbClr val="E4EC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1" name="TextBox 5"/>
          <p:cNvSpPr/>
          <p:nvPr/>
        </p:nvSpPr>
        <p:spPr>
          <a:xfrm>
            <a:off x="822960" y="1828800"/>
            <a:ext cx="4708800" cy="5666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350" b="1" u="none" strike="noStrike">
                <a:solidFill>
                  <a:srgbClr val="162230"/>
                </a:solidFill>
                <a:effectLst/>
                <a:uFillTx/>
                <a:latin typeface="Calibri"/>
              </a:rPr>
              <a:t>Sin ejecutar</a:t>
            </a:r>
            <a:endParaRPr lang="es-ES" sz="1350" b="0" u="none" strike="noStrike">
              <a:solidFill>
                <a:srgbClr val="000000"/>
              </a:solidFill>
              <a:effectLst/>
              <a:uFillTx/>
              <a:latin typeface="Arial"/>
            </a:endParaRPr>
          </a:p>
        </p:txBody>
      </p:sp>
      <p:sp>
        <p:nvSpPr>
          <p:cNvPr id="332" name="Rounded Rectangle 6"/>
          <p:cNvSpPr/>
          <p:nvPr/>
        </p:nvSpPr>
        <p:spPr>
          <a:xfrm>
            <a:off x="640080" y="2523600"/>
            <a:ext cx="5074560" cy="566640"/>
          </a:xfrm>
          <a:prstGeom prst="roundRect">
            <a:avLst>
              <a:gd name="adj" fmla="val 50000"/>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3" name="TextBox 7"/>
          <p:cNvSpPr/>
          <p:nvPr/>
        </p:nvSpPr>
        <p:spPr>
          <a:xfrm>
            <a:off x="822960" y="2523600"/>
            <a:ext cx="4708800" cy="5666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350" b="1" u="none" strike="noStrike">
                <a:solidFill>
                  <a:srgbClr val="FFFFFF"/>
                </a:solidFill>
                <a:effectLst/>
                <a:uFillTx/>
                <a:latin typeface="Calibri"/>
              </a:rPr>
              <a:t>Válido</a:t>
            </a:r>
            <a:endParaRPr lang="es-ES" sz="1350" b="0" u="none" strike="noStrike">
              <a:solidFill>
                <a:srgbClr val="000000"/>
              </a:solidFill>
              <a:effectLst/>
              <a:uFillTx/>
              <a:latin typeface="Arial"/>
            </a:endParaRPr>
          </a:p>
        </p:txBody>
      </p:sp>
      <p:sp>
        <p:nvSpPr>
          <p:cNvPr id="334" name="Rounded Rectangle 8"/>
          <p:cNvSpPr/>
          <p:nvPr/>
        </p:nvSpPr>
        <p:spPr>
          <a:xfrm>
            <a:off x="640080" y="3218760"/>
            <a:ext cx="5074560" cy="566640"/>
          </a:xfrm>
          <a:prstGeom prst="roundRect">
            <a:avLst>
              <a:gd name="adj" fmla="val 50000"/>
            </a:avLst>
          </a:prstGeom>
          <a:solidFill>
            <a:srgbClr val="E09A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9"/>
          <p:cNvSpPr/>
          <p:nvPr/>
        </p:nvSpPr>
        <p:spPr>
          <a:xfrm>
            <a:off x="822960" y="3218760"/>
            <a:ext cx="4708800" cy="5666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350" b="1" u="none" strike="noStrike">
                <a:solidFill>
                  <a:srgbClr val="FFFFFF"/>
                </a:solidFill>
                <a:effectLst/>
                <a:uFillTx/>
                <a:latin typeface="Calibri"/>
              </a:rPr>
              <a:t>Válido con avisos</a:t>
            </a:r>
            <a:endParaRPr lang="es-ES" sz="1350" b="0" u="none" strike="noStrike">
              <a:solidFill>
                <a:srgbClr val="000000"/>
              </a:solidFill>
              <a:effectLst/>
              <a:uFillTx/>
              <a:latin typeface="Arial"/>
            </a:endParaRPr>
          </a:p>
        </p:txBody>
      </p:sp>
      <p:sp>
        <p:nvSpPr>
          <p:cNvPr id="336" name="Rounded Rectangle 10"/>
          <p:cNvSpPr/>
          <p:nvPr/>
        </p:nvSpPr>
        <p:spPr>
          <a:xfrm>
            <a:off x="640080" y="3913560"/>
            <a:ext cx="5074560" cy="566640"/>
          </a:xfrm>
          <a:prstGeom prst="roundRect">
            <a:avLst>
              <a:gd name="adj" fmla="val 50000"/>
            </a:avLst>
          </a:prstGeom>
          <a:solidFill>
            <a:srgbClr val="B03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7" name="TextBox 11"/>
          <p:cNvSpPr/>
          <p:nvPr/>
        </p:nvSpPr>
        <p:spPr>
          <a:xfrm>
            <a:off x="822960" y="3913560"/>
            <a:ext cx="4708800" cy="5666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350" b="1" u="none" strike="noStrike">
                <a:solidFill>
                  <a:srgbClr val="FFFFFF"/>
                </a:solidFill>
                <a:effectLst/>
                <a:uFillTx/>
                <a:latin typeface="Calibri"/>
              </a:rPr>
              <a:t>Inválido</a:t>
            </a:r>
            <a:endParaRPr lang="es-ES" sz="1350" b="0" u="none" strike="noStrike">
              <a:solidFill>
                <a:srgbClr val="000000"/>
              </a:solidFill>
              <a:effectLst/>
              <a:uFillTx/>
              <a:latin typeface="Arial"/>
            </a:endParaRPr>
          </a:p>
        </p:txBody>
      </p:sp>
      <p:sp>
        <p:nvSpPr>
          <p:cNvPr id="338" name="Rounded Rectangle 12"/>
          <p:cNvSpPr/>
          <p:nvPr/>
        </p:nvSpPr>
        <p:spPr>
          <a:xfrm>
            <a:off x="640080" y="4608720"/>
            <a:ext cx="5074560" cy="566640"/>
          </a:xfrm>
          <a:prstGeom prst="roundRect">
            <a:avLst>
              <a:gd name="adj" fmla="val 50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9" name="TextBox 13"/>
          <p:cNvSpPr/>
          <p:nvPr/>
        </p:nvSpPr>
        <p:spPr>
          <a:xfrm>
            <a:off x="822960" y="4608720"/>
            <a:ext cx="4708800" cy="566640"/>
          </a:xfrm>
          <a:prstGeom prst="rect">
            <a:avLst/>
          </a:prstGeom>
          <a:noFill/>
          <a:ln w="0">
            <a:noFill/>
          </a:ln>
        </p:spPr>
        <p:style>
          <a:lnRef idx="0"/>
          <a:fillRef idx="0"/>
          <a:effectRef idx="0"/>
          <a:fontRef idx="minor"/>
        </p:style>
        <p:txBody>
          <a:bodyPr lIns="0" tIns="0" rIns="0" bIns="0" anchor="ctr">
            <a:spAutoFit/>
          </a:bodyPr>
          <a:p>
            <a:pPr defTabSz="457200">
              <a:lnSpc>
                <a:spcPct val="100000"/>
              </a:lnSpc>
            </a:pPr>
            <a:r>
              <a:rPr lang="en-US" sz="1350" b="1" u="none" strike="noStrike">
                <a:solidFill>
                  <a:srgbClr val="FFFFFF"/>
                </a:solidFill>
                <a:effectLst/>
                <a:uFillTx/>
                <a:latin typeface="Calibri"/>
              </a:rPr>
              <a:t>Fallido</a:t>
            </a:r>
            <a:endParaRPr lang="es-ES" sz="1350" b="0" u="none" strike="noStrike">
              <a:solidFill>
                <a:srgbClr val="000000"/>
              </a:solidFill>
              <a:effectLst/>
              <a:uFillTx/>
              <a:latin typeface="Arial"/>
            </a:endParaRPr>
          </a:p>
        </p:txBody>
      </p:sp>
      <p:sp>
        <p:nvSpPr>
          <p:cNvPr id="340" name="TextBox 14"/>
          <p:cNvSpPr/>
          <p:nvPr/>
        </p:nvSpPr>
        <p:spPr>
          <a:xfrm>
            <a:off x="640080" y="5358240"/>
            <a:ext cx="5074560" cy="9140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150" b="0" i="1" u="none" strike="noStrike">
                <a:solidFill>
                  <a:srgbClr val="5B6B7A"/>
                </a:solidFill>
                <a:effectLst/>
                <a:uFillTx/>
                <a:latin typeface="Calibri"/>
              </a:rPr>
              <a:t>Un aviso nunca convierte un documento válido en inválido: señala un caso semánticamente atípico (tipo inconsistente con la sección, referencia sin code ni label) para que pueda revisarse.</a:t>
            </a:r>
            <a:endParaRPr lang="es-ES" sz="1150" b="0" u="none" strike="noStrike">
              <a:solidFill>
                <a:srgbClr val="000000"/>
              </a:solidFill>
              <a:effectLst/>
              <a:uFillTx/>
              <a:latin typeface="Arial"/>
            </a:endParaRPr>
          </a:p>
        </p:txBody>
      </p:sp>
      <p:pic>
        <p:nvPicPr>
          <p:cNvPr id="341" name="Picture 15" descr="open_cvn_import_validation_flow.png"/>
          <p:cNvPicPr/>
          <p:nvPr/>
        </p:nvPicPr>
        <p:blipFill>
          <a:blip r:embed="rId1"/>
          <a:stretch/>
        </p:blipFill>
        <p:spPr>
          <a:xfrm>
            <a:off x="5996520" y="1737360"/>
            <a:ext cx="5517360" cy="43430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3"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6 · FORMATO OPEN CVN Y HERRAMIENTA</a:t>
            </a:r>
            <a:endParaRPr lang="es-ES" sz="1300" b="0" u="none" strike="noStrike">
              <a:solidFill>
                <a:srgbClr val="000000"/>
              </a:solidFill>
              <a:effectLst/>
              <a:uFillTx/>
              <a:latin typeface="Arial"/>
            </a:endParaRPr>
          </a:p>
        </p:txBody>
      </p:sp>
      <p:sp>
        <p:nvSpPr>
          <p:cNvPr id="344"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Importación determinista y herramienta local</a:t>
            </a:r>
            <a:endParaRPr lang="es-ES" sz="3000" b="0" u="none" strike="noStrike">
              <a:solidFill>
                <a:srgbClr val="000000"/>
              </a:solidFill>
              <a:effectLst/>
              <a:uFillTx/>
              <a:latin typeface="Arial"/>
            </a:endParaRPr>
          </a:p>
        </p:txBody>
      </p:sp>
      <p:sp>
        <p:nvSpPr>
          <p:cNvPr id="345" name="Rounded Rectangle 4"/>
          <p:cNvSpPr/>
          <p:nvPr/>
        </p:nvSpPr>
        <p:spPr>
          <a:xfrm>
            <a:off x="640080" y="1783080"/>
            <a:ext cx="5074560" cy="1170000"/>
          </a:xfrm>
          <a:prstGeom prst="roundRect">
            <a:avLst>
              <a:gd name="adj" fmla="val 10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6" name="Oval 5"/>
          <p:cNvSpPr/>
          <p:nvPr/>
        </p:nvSpPr>
        <p:spPr>
          <a:xfrm>
            <a:off x="804600" y="194760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1</a:t>
            </a:r>
            <a:endParaRPr lang="es-ES" sz="1500" b="0" u="none" strike="noStrike">
              <a:solidFill>
                <a:srgbClr val="FFFFFF"/>
              </a:solidFill>
              <a:effectLst/>
              <a:uFillTx/>
              <a:latin typeface="Arial"/>
            </a:endParaRPr>
          </a:p>
        </p:txBody>
      </p:sp>
      <p:sp>
        <p:nvSpPr>
          <p:cNvPr id="347" name="TextBox 6"/>
          <p:cNvSpPr/>
          <p:nvPr/>
        </p:nvSpPr>
        <p:spPr>
          <a:xfrm>
            <a:off x="1426320" y="1911240"/>
            <a:ext cx="416016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1243A"/>
                </a:solidFill>
                <a:effectLst/>
                <a:uFillTx/>
                <a:latin typeface="Calibri"/>
              </a:rPr>
              <a:t>Open CVN JSON</a:t>
            </a:r>
            <a:endParaRPr lang="es-ES" sz="1400" b="0" u="none" strike="noStrike">
              <a:solidFill>
                <a:srgbClr val="000000"/>
              </a:solidFill>
              <a:effectLst/>
              <a:uFillTx/>
              <a:latin typeface="Arial"/>
            </a:endParaRPr>
          </a:p>
        </p:txBody>
      </p:sp>
      <p:sp>
        <p:nvSpPr>
          <p:cNvPr id="348" name="TextBox 7"/>
          <p:cNvSpPr/>
          <p:nvPr/>
        </p:nvSpPr>
        <p:spPr>
          <a:xfrm>
            <a:off x="1426320" y="2240280"/>
            <a:ext cx="4160160" cy="66708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080" b="0" u="none" strike="noStrike">
                <a:solidFill>
                  <a:srgbClr val="5B6B7A"/>
                </a:solidFill>
                <a:effectLst/>
                <a:uFillTx/>
                <a:latin typeface="Calibri"/>
              </a:rPr>
              <a:t>Caso directo: se analiza y valida sin transformación adicional.</a:t>
            </a:r>
            <a:endParaRPr lang="es-ES" sz="1080" b="0" u="none" strike="noStrike">
              <a:solidFill>
                <a:srgbClr val="000000"/>
              </a:solidFill>
              <a:effectLst/>
              <a:uFillTx/>
              <a:latin typeface="Arial"/>
            </a:endParaRPr>
          </a:p>
        </p:txBody>
      </p:sp>
      <p:sp>
        <p:nvSpPr>
          <p:cNvPr id="349" name="Rounded Rectangle 8"/>
          <p:cNvSpPr/>
          <p:nvPr/>
        </p:nvSpPr>
        <p:spPr>
          <a:xfrm>
            <a:off x="640080" y="3099960"/>
            <a:ext cx="5074560" cy="1170000"/>
          </a:xfrm>
          <a:prstGeom prst="roundRect">
            <a:avLst>
              <a:gd name="adj" fmla="val 10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0" name="Oval 9"/>
          <p:cNvSpPr/>
          <p:nvPr/>
        </p:nvSpPr>
        <p:spPr>
          <a:xfrm>
            <a:off x="804600" y="326448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2</a:t>
            </a:r>
            <a:endParaRPr lang="es-ES" sz="1500" b="0" u="none" strike="noStrike">
              <a:solidFill>
                <a:srgbClr val="FFFFFF"/>
              </a:solidFill>
              <a:effectLst/>
              <a:uFillTx/>
              <a:latin typeface="Arial"/>
            </a:endParaRPr>
          </a:p>
        </p:txBody>
      </p:sp>
      <p:sp>
        <p:nvSpPr>
          <p:cNvPr id="351" name="TextBox 10"/>
          <p:cNvSpPr/>
          <p:nvPr/>
        </p:nvSpPr>
        <p:spPr>
          <a:xfrm>
            <a:off x="1426320" y="3227760"/>
            <a:ext cx="416016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1243A"/>
                </a:solidFill>
                <a:effectLst/>
                <a:uFillTx/>
                <a:latin typeface="Calibri"/>
              </a:rPr>
              <a:t>CVN XML</a:t>
            </a:r>
            <a:endParaRPr lang="es-ES" sz="1400" b="0" u="none" strike="noStrike">
              <a:solidFill>
                <a:srgbClr val="000000"/>
              </a:solidFill>
              <a:effectLst/>
              <a:uFillTx/>
              <a:latin typeface="Arial"/>
            </a:endParaRPr>
          </a:p>
        </p:txBody>
      </p:sp>
      <p:sp>
        <p:nvSpPr>
          <p:cNvPr id="352" name="TextBox 11"/>
          <p:cNvSpPr/>
          <p:nvPr/>
        </p:nvSpPr>
        <p:spPr>
          <a:xfrm>
            <a:off x="1426320" y="3557160"/>
            <a:ext cx="4160160" cy="66708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080" b="0" u="none" strike="noStrike">
                <a:solidFill>
                  <a:srgbClr val="5B6B7A"/>
                </a:solidFill>
                <a:effectLst/>
                <a:uFillTx/>
                <a:latin typeface="Calibri"/>
              </a:rPr>
              <a:t>Mapeo semántico parcial y creciente; lo no reconocido se preserva como diagnóstico.</a:t>
            </a:r>
            <a:endParaRPr lang="es-ES" sz="1080" b="0" u="none" strike="noStrike">
              <a:solidFill>
                <a:srgbClr val="000000"/>
              </a:solidFill>
              <a:effectLst/>
              <a:uFillTx/>
              <a:latin typeface="Arial"/>
            </a:endParaRPr>
          </a:p>
        </p:txBody>
      </p:sp>
      <p:sp>
        <p:nvSpPr>
          <p:cNvPr id="353" name="Rounded Rectangle 12"/>
          <p:cNvSpPr/>
          <p:nvPr/>
        </p:nvSpPr>
        <p:spPr>
          <a:xfrm>
            <a:off x="640080" y="4416480"/>
            <a:ext cx="5074560" cy="1170000"/>
          </a:xfrm>
          <a:prstGeom prst="roundRect">
            <a:avLst>
              <a:gd name="adj" fmla="val 10000"/>
            </a:avLst>
          </a:prstGeom>
          <a:solidFill>
            <a:srgbClr val="FFFFFF"/>
          </a:solidFill>
          <a:ln w="13970">
            <a:solidFill>
              <a:srgbClr val="D8E2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4" name="Oval 13"/>
          <p:cNvSpPr/>
          <p:nvPr/>
        </p:nvSpPr>
        <p:spPr>
          <a:xfrm>
            <a:off x="804600" y="4581000"/>
            <a:ext cx="456840" cy="45684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3</a:t>
            </a:r>
            <a:endParaRPr lang="es-ES" sz="1500" b="0" u="none" strike="noStrike">
              <a:solidFill>
                <a:srgbClr val="FFFFFF"/>
              </a:solidFill>
              <a:effectLst/>
              <a:uFillTx/>
              <a:latin typeface="Arial"/>
            </a:endParaRPr>
          </a:p>
        </p:txBody>
      </p:sp>
      <p:sp>
        <p:nvSpPr>
          <p:cNvPr id="355" name="TextBox 14"/>
          <p:cNvSpPr/>
          <p:nvPr/>
        </p:nvSpPr>
        <p:spPr>
          <a:xfrm>
            <a:off x="1426320" y="4544640"/>
            <a:ext cx="416016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1243A"/>
                </a:solidFill>
                <a:effectLst/>
                <a:uFillTx/>
                <a:latin typeface="Calibri"/>
              </a:rPr>
              <a:t>CVN PDF</a:t>
            </a:r>
            <a:endParaRPr lang="es-ES" sz="1400" b="0" u="none" strike="noStrike">
              <a:solidFill>
                <a:srgbClr val="000000"/>
              </a:solidFill>
              <a:effectLst/>
              <a:uFillTx/>
              <a:latin typeface="Arial"/>
            </a:endParaRPr>
          </a:p>
        </p:txBody>
      </p:sp>
      <p:sp>
        <p:nvSpPr>
          <p:cNvPr id="356" name="TextBox 15"/>
          <p:cNvSpPr/>
          <p:nvPr/>
        </p:nvSpPr>
        <p:spPr>
          <a:xfrm>
            <a:off x="1426320" y="4873680"/>
            <a:ext cx="4160160" cy="66708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080" b="0" u="none" strike="noStrike">
                <a:solidFill>
                  <a:srgbClr val="5B6B7A"/>
                </a:solidFill>
                <a:effectLst/>
                <a:uFillTx/>
                <a:latin typeface="Calibri"/>
              </a:rPr>
              <a:t>Prioriza el XML embebido; solo si falla, y con autorización explícita, recurre a un LLM opcional y trazable.</a:t>
            </a:r>
            <a:endParaRPr lang="es-ES" sz="1080" b="0" u="none" strike="noStrike">
              <a:solidFill>
                <a:srgbClr val="000000"/>
              </a:solidFill>
              <a:effectLst/>
              <a:uFillTx/>
              <a:latin typeface="Arial"/>
            </a:endParaRPr>
          </a:p>
        </p:txBody>
      </p:sp>
      <p:graphicFrame>
        <p:nvGraphicFramePr>
          <p:cNvPr id="357" name="Table 16"/>
          <p:cNvGraphicFramePr/>
          <p:nvPr/>
        </p:nvGraphicFramePr>
        <p:xfrm>
          <a:off x="5989320" y="1783080"/>
          <a:ext cx="5531760" cy="4343040"/>
        </p:xfrm>
        <a:graphic>
          <a:graphicData uri="http://schemas.openxmlformats.org/drawingml/2006/table">
            <a:tbl>
              <a:tblPr/>
              <a:tblGrid>
                <a:gridCol w="2331720"/>
                <a:gridCol w="3200400"/>
              </a:tblGrid>
              <a:tr h="723600">
                <a:tc>
                  <a:txBody>
                    <a:bodyPr lIns="82080" tIns="41040" rIns="82080" bIns="41040" anchor="ctr">
                      <a:noAutofit/>
                    </a:bodyPr>
                    <a:p>
                      <a:pPr defTabSz="457200">
                        <a:lnSpc>
                          <a:spcPct val="100000"/>
                        </a:lnSpc>
                      </a:pPr>
                      <a:r>
                        <a:rPr lang="en-US" sz="1250" b="1" u="none" strike="noStrike">
                          <a:solidFill>
                            <a:srgbClr val="FFFFFF"/>
                          </a:solidFill>
                          <a:effectLst/>
                          <a:uFillTx/>
                          <a:latin typeface="Calibri"/>
                        </a:rPr>
                        <a:t>Comando</a:t>
                      </a:r>
                      <a:endParaRPr lang="es-ES" sz="125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c>
                  <a:txBody>
                    <a:bodyPr lIns="82080" tIns="41040" rIns="82080" bIns="41040" anchor="ctr">
                      <a:noAutofit/>
                    </a:bodyPr>
                    <a:p>
                      <a:pPr defTabSz="457200">
                        <a:lnSpc>
                          <a:spcPct val="100000"/>
                        </a:lnSpc>
                      </a:pPr>
                      <a:r>
                        <a:rPr lang="en-US" sz="1250" b="1" u="none" strike="noStrike">
                          <a:solidFill>
                            <a:srgbClr val="FFFFFF"/>
                          </a:solidFill>
                          <a:effectLst/>
                          <a:uFillTx/>
                          <a:latin typeface="Calibri"/>
                        </a:rPr>
                        <a:t>Función</a:t>
                      </a:r>
                      <a:endParaRPr lang="es-ES" sz="125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r>
              <a:tr h="723600">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store init</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Inicializa el almacenamiento SQLite local</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23600">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json import / pdf import</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Importa Open CVN JSON o un CVN PDF (LLM opcional)</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723600">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versions derive</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Crea una versión derivada a partir del maestro</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23600">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versions include / exclude</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Selecciona o excluye secciones y entradas</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723600">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latex export / pdf generate</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150" b="0" u="none" strike="noStrike">
                          <a:solidFill>
                            <a:srgbClr val="162230"/>
                          </a:solidFill>
                          <a:effectLst/>
                          <a:uFillTx/>
                          <a:latin typeface="Calibri"/>
                        </a:rPr>
                        <a:t>Exporta a LaTeX y compila a PDF</a:t>
                      </a:r>
                      <a:endParaRPr lang="es-ES" sz="11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9"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7 · EVALUACIÓN Y RESULTADOS</a:t>
            </a:r>
            <a:endParaRPr lang="es-ES" sz="1300" b="0" u="none" strike="noStrike">
              <a:solidFill>
                <a:srgbClr val="000000"/>
              </a:solidFill>
              <a:effectLst/>
              <a:uFillTx/>
              <a:latin typeface="Arial"/>
            </a:endParaRPr>
          </a:p>
        </p:txBody>
      </p:sp>
      <p:sp>
        <p:nvSpPr>
          <p:cNvPr id="360"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488 pruebas automatizadas, sin ningún fallo</a:t>
            </a:r>
            <a:endParaRPr lang="es-ES" sz="3000" b="0" u="none" strike="noStrike">
              <a:solidFill>
                <a:srgbClr val="000000"/>
              </a:solidFill>
              <a:effectLst/>
              <a:uFillTx/>
              <a:latin typeface="Arial"/>
            </a:endParaRPr>
          </a:p>
        </p:txBody>
      </p:sp>
      <p:sp>
        <p:nvSpPr>
          <p:cNvPr id="361" name="Rounded Rectangle 4"/>
          <p:cNvSpPr/>
          <p:nvPr/>
        </p:nvSpPr>
        <p:spPr>
          <a:xfrm>
            <a:off x="640080" y="1691640"/>
            <a:ext cx="2596680" cy="12340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2" name="TextBox 5"/>
          <p:cNvSpPr/>
          <p:nvPr/>
        </p:nvSpPr>
        <p:spPr>
          <a:xfrm>
            <a:off x="713160" y="1783080"/>
            <a:ext cx="2450160" cy="66708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488</a:t>
            </a:r>
            <a:endParaRPr lang="es-ES" sz="3000" b="0" u="none" strike="noStrike">
              <a:solidFill>
                <a:srgbClr val="000000"/>
              </a:solidFill>
              <a:effectLst/>
              <a:uFillTx/>
              <a:latin typeface="Arial"/>
            </a:endParaRPr>
          </a:p>
        </p:txBody>
      </p:sp>
      <p:sp>
        <p:nvSpPr>
          <p:cNvPr id="363" name="TextBox 6"/>
          <p:cNvSpPr/>
          <p:nvPr/>
        </p:nvSpPr>
        <p:spPr>
          <a:xfrm>
            <a:off x="713160" y="2468880"/>
            <a:ext cx="245016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pruebas ejecutadas</a:t>
            </a:r>
            <a:endParaRPr lang="es-ES" sz="1050" b="0" u="none" strike="noStrike">
              <a:solidFill>
                <a:srgbClr val="000000"/>
              </a:solidFill>
              <a:effectLst/>
              <a:uFillTx/>
              <a:latin typeface="Arial"/>
            </a:endParaRPr>
          </a:p>
        </p:txBody>
      </p:sp>
      <p:sp>
        <p:nvSpPr>
          <p:cNvPr id="364" name="Rounded Rectangle 7"/>
          <p:cNvSpPr/>
          <p:nvPr/>
        </p:nvSpPr>
        <p:spPr>
          <a:xfrm>
            <a:off x="3401640" y="1691640"/>
            <a:ext cx="2596680" cy="12340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5" name="TextBox 8"/>
          <p:cNvSpPr/>
          <p:nvPr/>
        </p:nvSpPr>
        <p:spPr>
          <a:xfrm>
            <a:off x="3474720" y="1783080"/>
            <a:ext cx="2450160" cy="66708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8</a:t>
            </a:r>
            <a:endParaRPr lang="es-ES" sz="3000" b="0" u="none" strike="noStrike">
              <a:solidFill>
                <a:srgbClr val="000000"/>
              </a:solidFill>
              <a:effectLst/>
              <a:uFillTx/>
              <a:latin typeface="Arial"/>
            </a:endParaRPr>
          </a:p>
        </p:txBody>
      </p:sp>
      <p:sp>
        <p:nvSpPr>
          <p:cNvPr id="366" name="TextBox 9"/>
          <p:cNvSpPr/>
          <p:nvPr/>
        </p:nvSpPr>
        <p:spPr>
          <a:xfrm>
            <a:off x="3474720" y="2468880"/>
            <a:ext cx="245016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niveles de evaluación</a:t>
            </a:r>
            <a:endParaRPr lang="es-ES" sz="1050" b="0" u="none" strike="noStrike">
              <a:solidFill>
                <a:srgbClr val="000000"/>
              </a:solidFill>
              <a:effectLst/>
              <a:uFillTx/>
              <a:latin typeface="Arial"/>
            </a:endParaRPr>
          </a:p>
        </p:txBody>
      </p:sp>
      <p:sp>
        <p:nvSpPr>
          <p:cNvPr id="367" name="Rounded Rectangle 10"/>
          <p:cNvSpPr/>
          <p:nvPr/>
        </p:nvSpPr>
        <p:spPr>
          <a:xfrm>
            <a:off x="6163200" y="1691640"/>
            <a:ext cx="2596680" cy="12340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8" name="TextBox 11"/>
          <p:cNvSpPr/>
          <p:nvPr/>
        </p:nvSpPr>
        <p:spPr>
          <a:xfrm>
            <a:off x="6236280" y="1783080"/>
            <a:ext cx="2450160" cy="66708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692,80 s</a:t>
            </a:r>
            <a:endParaRPr lang="es-ES" sz="3000" b="0" u="none" strike="noStrike">
              <a:solidFill>
                <a:srgbClr val="000000"/>
              </a:solidFill>
              <a:effectLst/>
              <a:uFillTx/>
              <a:latin typeface="Arial"/>
            </a:endParaRPr>
          </a:p>
        </p:txBody>
      </p:sp>
      <p:sp>
        <p:nvSpPr>
          <p:cNvPr id="369" name="TextBox 12"/>
          <p:cNvSpPr/>
          <p:nvPr/>
        </p:nvSpPr>
        <p:spPr>
          <a:xfrm>
            <a:off x="6236280" y="2468880"/>
            <a:ext cx="245016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de ejecución paralela</a:t>
            </a:r>
            <a:endParaRPr lang="es-ES" sz="1050" b="0" u="none" strike="noStrike">
              <a:solidFill>
                <a:srgbClr val="000000"/>
              </a:solidFill>
              <a:effectLst/>
              <a:uFillTx/>
              <a:latin typeface="Arial"/>
            </a:endParaRPr>
          </a:p>
        </p:txBody>
      </p:sp>
      <p:sp>
        <p:nvSpPr>
          <p:cNvPr id="370" name="Rounded Rectangle 13"/>
          <p:cNvSpPr/>
          <p:nvPr/>
        </p:nvSpPr>
        <p:spPr>
          <a:xfrm>
            <a:off x="8924400" y="1691640"/>
            <a:ext cx="2596680" cy="12340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1" name="TextBox 14"/>
          <p:cNvSpPr/>
          <p:nvPr/>
        </p:nvSpPr>
        <p:spPr>
          <a:xfrm>
            <a:off x="8997840" y="1783080"/>
            <a:ext cx="2450160" cy="667080"/>
          </a:xfrm>
          <a:prstGeom prst="rect">
            <a:avLst/>
          </a:prstGeom>
          <a:noFill/>
          <a:ln w="0">
            <a:noFill/>
          </a:ln>
        </p:spPr>
        <p:style>
          <a:lnRef idx="0"/>
          <a:fillRef idx="0"/>
          <a:effectRef idx="0"/>
          <a:fontRef idx="minor"/>
        </p:style>
        <p:txBody>
          <a:bodyPr lIns="0" tIns="0" rIns="0" bIns="0" anchor="b">
            <a:spAutoFit/>
          </a:bodyPr>
          <a:p>
            <a:pPr algn="ctr" defTabSz="457200">
              <a:lnSpc>
                <a:spcPct val="100000"/>
              </a:lnSpc>
            </a:pPr>
            <a:r>
              <a:rPr lang="en-US" sz="3000" b="1" u="none" strike="noStrike">
                <a:solidFill>
                  <a:srgbClr val="065A82"/>
                </a:solidFill>
                <a:effectLst/>
                <a:uFillTx/>
                <a:latin typeface="Cambria"/>
              </a:rPr>
              <a:t>0</a:t>
            </a:r>
            <a:endParaRPr lang="es-ES" sz="3000" b="0" u="none" strike="noStrike">
              <a:solidFill>
                <a:srgbClr val="000000"/>
              </a:solidFill>
              <a:effectLst/>
              <a:uFillTx/>
              <a:latin typeface="Arial"/>
            </a:endParaRPr>
          </a:p>
        </p:txBody>
      </p:sp>
      <p:sp>
        <p:nvSpPr>
          <p:cNvPr id="372" name="TextBox 15"/>
          <p:cNvSpPr/>
          <p:nvPr/>
        </p:nvSpPr>
        <p:spPr>
          <a:xfrm>
            <a:off x="8997840" y="2468880"/>
            <a:ext cx="2450160" cy="420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5B6B7A"/>
                </a:solidFill>
                <a:effectLst/>
                <a:uFillTx/>
                <a:latin typeface="Calibri"/>
              </a:rPr>
              <a:t>fallos en la última ejecución</a:t>
            </a:r>
            <a:endParaRPr lang="es-ES" sz="1050" b="0" u="none" strike="noStrike">
              <a:solidFill>
                <a:srgbClr val="000000"/>
              </a:solidFill>
              <a:effectLst/>
              <a:uFillTx/>
              <a:latin typeface="Arial"/>
            </a:endParaRPr>
          </a:p>
        </p:txBody>
      </p:sp>
      <p:graphicFrame>
        <p:nvGraphicFramePr>
          <p:cNvPr id="373" name="Chart 16"/>
          <p:cNvGraphicFramePr/>
          <p:nvPr/>
        </p:nvGraphicFramePr>
        <p:xfrm>
          <a:off x="640080" y="3154680"/>
          <a:ext cx="7680600" cy="3245760"/>
        </p:xfrm>
        <a:graphic>
          <a:graphicData uri="http://schemas.openxmlformats.org/drawingml/2006/chart">
            <c:chart xmlns:c="http://schemas.openxmlformats.org/drawingml/2006/chart" xmlns:r="http://schemas.openxmlformats.org/officeDocument/2006/relationships" r:id="rId1"/>
          </a:graphicData>
        </a:graphic>
      </p:graphicFrame>
      <p:sp>
        <p:nvSpPr>
          <p:cNvPr id="374" name="Rounded Rectangle 17"/>
          <p:cNvSpPr/>
          <p:nvPr/>
        </p:nvSpPr>
        <p:spPr>
          <a:xfrm>
            <a:off x="8503920" y="3154680"/>
            <a:ext cx="3017160" cy="3245760"/>
          </a:xfrm>
          <a:prstGeom prst="roundRect">
            <a:avLst>
              <a:gd name="adj" fmla="val 9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5" name="TextBox 18"/>
          <p:cNvSpPr/>
          <p:nvPr/>
        </p:nvSpPr>
        <p:spPr>
          <a:xfrm>
            <a:off x="8732520" y="3337560"/>
            <a:ext cx="260568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065A82"/>
                </a:solidFill>
                <a:effectLst/>
                <a:uFillTx/>
                <a:latin typeface="Courier New"/>
              </a:rPr>
              <a:t>uv run pytest -n auto tests</a:t>
            </a:r>
            <a:endParaRPr lang="es-ES" sz="1150" b="0" u="none" strike="noStrike">
              <a:solidFill>
                <a:srgbClr val="000000"/>
              </a:solidFill>
              <a:effectLst/>
              <a:uFillTx/>
              <a:latin typeface="Arial"/>
            </a:endParaRPr>
          </a:p>
        </p:txBody>
      </p:sp>
      <p:sp>
        <p:nvSpPr>
          <p:cNvPr id="376" name="TextBox 19"/>
          <p:cNvSpPr/>
          <p:nvPr/>
        </p:nvSpPr>
        <p:spPr>
          <a:xfrm>
            <a:off x="8732520" y="3977640"/>
            <a:ext cx="2605680" cy="228564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12000"/>
              </a:lnSpc>
              <a:spcAft>
                <a:spcPts val="1001"/>
              </a:spcAft>
              <a:buClr>
                <a:srgbClr val="065A82"/>
              </a:buClr>
              <a:buSzPct val="55000"/>
              <a:buFont typeface="Arial"/>
              <a:buChar char="●"/>
            </a:pPr>
            <a:r>
              <a:rPr lang="en-US" sz="1150" b="0" u="none" strike="noStrike">
                <a:solidFill>
                  <a:srgbClr val="162230"/>
                </a:solidFill>
                <a:effectLst/>
                <a:uFillTx/>
                <a:latin typeface="Calibri"/>
              </a:rPr>
              <a:t>Organizada por las mismas capas que la arquitectura.</a:t>
            </a:r>
            <a:endParaRPr lang="es-ES" sz="1150" b="0" u="none" strike="noStrike">
              <a:solidFill>
                <a:srgbClr val="000000"/>
              </a:solidFill>
              <a:effectLst/>
              <a:uFillTx/>
              <a:latin typeface="Arial"/>
            </a:endParaRPr>
          </a:p>
          <a:p>
            <a:pPr marL="255960" indent="-255960" defTabSz="457200">
              <a:lnSpc>
                <a:spcPct val="112000"/>
              </a:lnSpc>
              <a:spcAft>
                <a:spcPts val="1001"/>
              </a:spcAft>
              <a:buClr>
                <a:srgbClr val="065A82"/>
              </a:buClr>
              <a:buSzPct val="55000"/>
              <a:buFont typeface="Arial"/>
              <a:buChar char="●"/>
            </a:pPr>
            <a:r>
              <a:rPr lang="en-US" sz="1150" b="0" u="none" strike="noStrike">
                <a:solidFill>
                  <a:srgbClr val="162230"/>
                </a:solidFill>
                <a:effectLst/>
                <a:uFillTx/>
                <a:latin typeface="Calibri"/>
              </a:rPr>
              <a:t>Se ejecuta también en integración continua en cada contribución.</a:t>
            </a:r>
            <a:endParaRPr lang="es-ES" sz="1150" b="0" u="none" strike="noStrike">
              <a:solidFill>
                <a:srgbClr val="000000"/>
              </a:solidFill>
              <a:effectLst/>
              <a:uFillTx/>
              <a:latin typeface="Arial"/>
            </a:endParaRPr>
          </a:p>
          <a:p>
            <a:pPr marL="255960" indent="-255960" defTabSz="457200">
              <a:lnSpc>
                <a:spcPct val="112000"/>
              </a:lnSpc>
              <a:spcAft>
                <a:spcPts val="1001"/>
              </a:spcAft>
              <a:buClr>
                <a:srgbClr val="065A82"/>
              </a:buClr>
              <a:buSzPct val="55000"/>
              <a:buFont typeface="Arial"/>
              <a:buChar char="●"/>
            </a:pPr>
            <a:r>
              <a:rPr lang="en-US" sz="1150" b="0" u="none" strike="noStrike">
                <a:solidFill>
                  <a:srgbClr val="162230"/>
                </a:solidFill>
                <a:effectLst/>
                <a:uFillTx/>
                <a:latin typeface="Calibri"/>
              </a:rPr>
              <a:t>El resultado no depende del entorno de quien lo ejecuta.</a:t>
            </a:r>
            <a:endParaRPr lang="es-E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8"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7 · EVALUACIÓN Y RESULTADOS</a:t>
            </a:r>
            <a:endParaRPr lang="es-ES" sz="1300" b="0" u="none" strike="noStrike">
              <a:solidFill>
                <a:srgbClr val="000000"/>
              </a:solidFill>
              <a:effectLst/>
              <a:uFillTx/>
              <a:latin typeface="Arial"/>
            </a:endParaRPr>
          </a:p>
        </p:txBody>
      </p:sp>
      <p:sp>
        <p:nvSpPr>
          <p:cNvPr id="379"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Garantías fuertes donde el proceso es determinista</a:t>
            </a:r>
            <a:endParaRPr lang="es-ES" sz="3000" b="0" u="none" strike="noStrike">
              <a:solidFill>
                <a:srgbClr val="000000"/>
              </a:solidFill>
              <a:effectLst/>
              <a:uFillTx/>
              <a:latin typeface="Arial"/>
            </a:endParaRPr>
          </a:p>
        </p:txBody>
      </p:sp>
      <p:sp>
        <p:nvSpPr>
          <p:cNvPr id="380" name="Rounded Rectangle 4"/>
          <p:cNvSpPr/>
          <p:nvPr/>
        </p:nvSpPr>
        <p:spPr>
          <a:xfrm>
            <a:off x="640080" y="1783080"/>
            <a:ext cx="5348880" cy="4205880"/>
          </a:xfrm>
          <a:prstGeom prst="roundRect">
            <a:avLst>
              <a:gd name="adj" fmla="val 10000"/>
            </a:avLst>
          </a:prstGeom>
          <a:solidFill>
            <a:srgbClr val="E1EEF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1" name="TextBox 5"/>
          <p:cNvSpPr/>
          <p:nvPr/>
        </p:nvSpPr>
        <p:spPr>
          <a:xfrm>
            <a:off x="868680" y="1965960"/>
            <a:ext cx="489168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C7293"/>
                </a:solidFill>
                <a:effectLst/>
                <a:uFillTx/>
                <a:latin typeface="Calibri"/>
              </a:rPr>
              <a:t>GARANTÍAS FUERTES Y DETERMINISTAS</a:t>
            </a:r>
            <a:endParaRPr lang="es-ES" sz="1250" b="0" u="none" strike="noStrike">
              <a:solidFill>
                <a:srgbClr val="000000"/>
              </a:solidFill>
              <a:effectLst/>
              <a:uFillTx/>
              <a:latin typeface="Arial"/>
            </a:endParaRPr>
          </a:p>
        </p:txBody>
      </p:sp>
      <p:sp>
        <p:nvSpPr>
          <p:cNvPr id="382" name="TextBox 6"/>
          <p:cNvSpPr/>
          <p:nvPr/>
        </p:nvSpPr>
        <p:spPr>
          <a:xfrm>
            <a:off x="868680" y="2395800"/>
            <a:ext cx="4937400" cy="342864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12000"/>
              </a:lnSpc>
              <a:spcAft>
                <a:spcPts val="1599"/>
              </a:spcAft>
              <a:buClr>
                <a:srgbClr val="1C7293"/>
              </a:buClr>
              <a:buSzPct val="55000"/>
              <a:buFont typeface="Arial"/>
              <a:buChar char="●"/>
            </a:pPr>
            <a:r>
              <a:rPr lang="en-US" sz="1350" b="0" u="none" strike="noStrike">
                <a:solidFill>
                  <a:srgbClr val="162230"/>
                </a:solidFill>
                <a:effectLst/>
                <a:uFillTx/>
                <a:latin typeface="Calibri"/>
              </a:rPr>
              <a:t>Generación estructural desde los esquemas XSD oficiales.</a:t>
            </a:r>
            <a:endParaRPr lang="es-ES" sz="1350" b="0" u="none" strike="noStrike">
              <a:solidFill>
                <a:srgbClr val="000000"/>
              </a:solidFill>
              <a:effectLst/>
              <a:uFillTx/>
              <a:latin typeface="Arial"/>
            </a:endParaRPr>
          </a:p>
          <a:p>
            <a:pPr marL="255960" indent="-255960" defTabSz="457200">
              <a:lnSpc>
                <a:spcPct val="112000"/>
              </a:lnSpc>
              <a:spcAft>
                <a:spcPts val="1599"/>
              </a:spcAft>
              <a:buClr>
                <a:srgbClr val="1C7293"/>
              </a:buClr>
              <a:buSzPct val="55000"/>
              <a:buFont typeface="Arial"/>
              <a:buChar char="●"/>
            </a:pPr>
            <a:r>
              <a:rPr lang="en-US" sz="1350" b="0" u="none" strike="noStrike">
                <a:solidFill>
                  <a:srgbClr val="162230"/>
                </a:solidFill>
                <a:effectLst/>
                <a:uFillTx/>
                <a:latin typeface="Calibri"/>
              </a:rPr>
              <a:t>Normalización y resolución de referencias con evidencia trazable.</a:t>
            </a:r>
            <a:endParaRPr lang="es-ES" sz="1350" b="0" u="none" strike="noStrike">
              <a:solidFill>
                <a:srgbClr val="000000"/>
              </a:solidFill>
              <a:effectLst/>
              <a:uFillTx/>
              <a:latin typeface="Arial"/>
            </a:endParaRPr>
          </a:p>
          <a:p>
            <a:pPr marL="255960" indent="-255960" defTabSz="457200">
              <a:lnSpc>
                <a:spcPct val="112000"/>
              </a:lnSpc>
              <a:spcAft>
                <a:spcPts val="1599"/>
              </a:spcAft>
              <a:buClr>
                <a:srgbClr val="1C7293"/>
              </a:buClr>
              <a:buSzPct val="55000"/>
              <a:buFont typeface="Arial"/>
              <a:buChar char="●"/>
            </a:pPr>
            <a:r>
              <a:rPr lang="en-US" sz="1350" b="0" u="none" strike="noStrike">
                <a:solidFill>
                  <a:srgbClr val="162230"/>
                </a:solidFill>
                <a:effectLst/>
                <a:uFillTx/>
                <a:latin typeface="Calibri"/>
              </a:rPr>
              <a:t>Política semántica evaluada a partir de evidencia concreta.</a:t>
            </a:r>
            <a:endParaRPr lang="es-ES" sz="1350" b="0" u="none" strike="noStrike">
              <a:solidFill>
                <a:srgbClr val="000000"/>
              </a:solidFill>
              <a:effectLst/>
              <a:uFillTx/>
              <a:latin typeface="Arial"/>
            </a:endParaRPr>
          </a:p>
          <a:p>
            <a:pPr marL="255960" indent="-255960" defTabSz="457200">
              <a:lnSpc>
                <a:spcPct val="112000"/>
              </a:lnSpc>
              <a:spcAft>
                <a:spcPts val="1599"/>
              </a:spcAft>
              <a:buClr>
                <a:srgbClr val="1C7293"/>
              </a:buClr>
              <a:buSzPct val="55000"/>
              <a:buFont typeface="Arial"/>
              <a:buChar char="●"/>
            </a:pPr>
            <a:r>
              <a:rPr lang="en-US" sz="1350" b="0" u="none" strike="noStrike">
                <a:solidFill>
                  <a:srgbClr val="162230"/>
                </a:solidFill>
                <a:effectLst/>
                <a:uFillTx/>
                <a:latin typeface="Calibri"/>
              </a:rPr>
              <a:t>Validación estructural y en tiempo de ejecución del formato Open CVN JSON.</a:t>
            </a:r>
            <a:endParaRPr lang="es-ES" sz="1350" b="0" u="none" strike="noStrike">
              <a:solidFill>
                <a:srgbClr val="000000"/>
              </a:solidFill>
              <a:effectLst/>
              <a:uFillTx/>
              <a:latin typeface="Arial"/>
            </a:endParaRPr>
          </a:p>
        </p:txBody>
      </p:sp>
      <p:sp>
        <p:nvSpPr>
          <p:cNvPr id="383" name="Rounded Rectangle 7"/>
          <p:cNvSpPr/>
          <p:nvPr/>
        </p:nvSpPr>
        <p:spPr>
          <a:xfrm>
            <a:off x="6172200" y="1783080"/>
            <a:ext cx="5348880" cy="4205880"/>
          </a:xfrm>
          <a:prstGeom prst="roundRect">
            <a:avLst>
              <a:gd name="adj" fmla="val 10000"/>
            </a:avLst>
          </a:prstGeom>
          <a:solidFill>
            <a:srgbClr val="FBF0D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4" name="TextBox 8"/>
          <p:cNvSpPr/>
          <p:nvPr/>
        </p:nvSpPr>
        <p:spPr>
          <a:xfrm>
            <a:off x="6400800" y="1965960"/>
            <a:ext cx="489168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E09A3E"/>
                </a:solidFill>
                <a:effectLst/>
                <a:uFillTx/>
                <a:latin typeface="Calibri"/>
              </a:rPr>
              <a:t>GARANTÍAS PARCIALES Y DOCUMENTADAS</a:t>
            </a:r>
            <a:endParaRPr lang="es-ES" sz="1250" b="0" u="none" strike="noStrike">
              <a:solidFill>
                <a:srgbClr val="000000"/>
              </a:solidFill>
              <a:effectLst/>
              <a:uFillTx/>
              <a:latin typeface="Arial"/>
            </a:endParaRPr>
          </a:p>
        </p:txBody>
      </p:sp>
      <p:sp>
        <p:nvSpPr>
          <p:cNvPr id="385" name="TextBox 9"/>
          <p:cNvSpPr/>
          <p:nvPr/>
        </p:nvSpPr>
        <p:spPr>
          <a:xfrm>
            <a:off x="6400800" y="2395800"/>
            <a:ext cx="4937400" cy="3428640"/>
          </a:xfrm>
          <a:prstGeom prst="rect">
            <a:avLst/>
          </a:prstGeom>
          <a:noFill/>
          <a:ln w="0">
            <a:noFill/>
          </a:ln>
        </p:spPr>
        <p:style>
          <a:lnRef idx="0"/>
          <a:fillRef idx="0"/>
          <a:effectRef idx="0"/>
          <a:fontRef idx="minor"/>
        </p:style>
        <p:txBody>
          <a:bodyPr lIns="0" tIns="0" rIns="0" bIns="0" anchor="t">
            <a:spAutoFit/>
          </a:bodyPr>
          <a:p>
            <a:pPr marL="255960" indent="-255960" defTabSz="457200">
              <a:lnSpc>
                <a:spcPct val="112000"/>
              </a:lnSpc>
              <a:spcAft>
                <a:spcPts val="1599"/>
              </a:spcAft>
              <a:buClr>
                <a:srgbClr val="E0993C"/>
              </a:buClr>
              <a:buSzPct val="55000"/>
              <a:buFont typeface="Arial"/>
              <a:buChar char="●"/>
            </a:pPr>
            <a:r>
              <a:rPr lang="en-US" sz="1350" b="0" u="none" strike="noStrike">
                <a:solidFill>
                  <a:srgbClr val="162230"/>
                </a:solidFill>
                <a:effectLst/>
                <a:uFillTx/>
                <a:latin typeface="Calibri"/>
              </a:rPr>
              <a:t>Importación de CVN XML: mapeo semántico parcial y creciente.</a:t>
            </a:r>
            <a:endParaRPr lang="es-ES" sz="1350" b="0" u="none" strike="noStrike">
              <a:solidFill>
                <a:srgbClr val="000000"/>
              </a:solidFill>
              <a:effectLst/>
              <a:uFillTx/>
              <a:latin typeface="Arial"/>
            </a:endParaRPr>
          </a:p>
          <a:p>
            <a:pPr marL="255960" indent="-255960" defTabSz="457200">
              <a:lnSpc>
                <a:spcPct val="112000"/>
              </a:lnSpc>
              <a:spcAft>
                <a:spcPts val="1599"/>
              </a:spcAft>
              <a:buClr>
                <a:srgbClr val="E0993C"/>
              </a:buClr>
              <a:buSzPct val="55000"/>
              <a:buFont typeface="Arial"/>
              <a:buChar char="●"/>
            </a:pPr>
            <a:r>
              <a:rPr lang="en-US" sz="1350" b="0" u="none" strike="noStrike">
                <a:solidFill>
                  <a:srgbClr val="162230"/>
                </a:solidFill>
                <a:effectLst/>
                <a:uFillTx/>
                <a:latin typeface="Calibri"/>
              </a:rPr>
              <a:t>Importación asistida por LLM: opcional, no autoritativa sin revisión.</a:t>
            </a:r>
            <a:endParaRPr lang="es-ES" sz="1350" b="0" u="none" strike="noStrike">
              <a:solidFill>
                <a:srgbClr val="000000"/>
              </a:solidFill>
              <a:effectLst/>
              <a:uFillTx/>
              <a:latin typeface="Arial"/>
            </a:endParaRPr>
          </a:p>
          <a:p>
            <a:pPr marL="255960" indent="-255960" defTabSz="457200">
              <a:lnSpc>
                <a:spcPct val="112000"/>
              </a:lnSpc>
              <a:spcAft>
                <a:spcPts val="1599"/>
              </a:spcAft>
              <a:buClr>
                <a:srgbClr val="E0993C"/>
              </a:buClr>
              <a:buSzPct val="55000"/>
              <a:buFont typeface="Arial"/>
              <a:buChar char="●"/>
            </a:pPr>
            <a:r>
              <a:rPr lang="en-US" sz="1350" b="0" u="none" strike="noStrike">
                <a:solidFill>
                  <a:srgbClr val="162230"/>
                </a:solidFill>
                <a:effectLst/>
                <a:uFillTx/>
                <a:latin typeface="Calibri"/>
              </a:rPr>
              <a:t>Generación de PDF: depende de un motor LaTeX disponible en el entorno.</a:t>
            </a:r>
            <a:endParaRPr lang="es-ES" sz="1350" b="0" u="none" strike="noStrike">
              <a:solidFill>
                <a:srgbClr val="000000"/>
              </a:solidFill>
              <a:effectLst/>
              <a:uFillTx/>
              <a:latin typeface="Arial"/>
            </a:endParaRPr>
          </a:p>
        </p:txBody>
      </p:sp>
      <p:sp>
        <p:nvSpPr>
          <p:cNvPr id="386" name="TextBox 10"/>
          <p:cNvSpPr/>
          <p:nvPr/>
        </p:nvSpPr>
        <p:spPr>
          <a:xfrm>
            <a:off x="640080" y="6172200"/>
            <a:ext cx="10881000" cy="4111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0" i="1" u="none" strike="noStrike">
                <a:solidFill>
                  <a:srgbClr val="5B6B7A"/>
                </a:solidFill>
                <a:effectLst/>
                <a:uFillTx/>
                <a:latin typeface="Calibri"/>
              </a:rPr>
              <a:t>No debe interpretarse como una conversión completa del ecosistema CVN ni como una validación semántica total del dominio.</a:t>
            </a:r>
            <a:endParaRPr lang="es-E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8"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8 · CONCLUSIONES</a:t>
            </a:r>
            <a:endParaRPr lang="es-ES" sz="1300" b="0" u="none" strike="noStrike">
              <a:solidFill>
                <a:srgbClr val="000000"/>
              </a:solidFill>
              <a:effectLst/>
              <a:uFillTx/>
              <a:latin typeface="Arial"/>
            </a:endParaRPr>
          </a:p>
        </p:txBody>
      </p:sp>
      <p:sp>
        <p:nvSpPr>
          <p:cNvPr id="389"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Cumplimiento de los objetivos específicos</a:t>
            </a:r>
            <a:endParaRPr lang="es-ES" sz="3000" b="0" u="none" strike="noStrike">
              <a:solidFill>
                <a:srgbClr val="000000"/>
              </a:solidFill>
              <a:effectLst/>
              <a:uFillTx/>
              <a:latin typeface="Arial"/>
            </a:endParaRPr>
          </a:p>
        </p:txBody>
      </p:sp>
      <p:graphicFrame>
        <p:nvGraphicFramePr>
          <p:cNvPr id="390" name="Table 4"/>
          <p:cNvGraphicFramePr/>
          <p:nvPr/>
        </p:nvGraphicFramePr>
        <p:xfrm>
          <a:off x="640080" y="1783080"/>
          <a:ext cx="10881000" cy="4434480"/>
        </p:xfrm>
        <a:graphic>
          <a:graphicData uri="http://schemas.openxmlformats.org/drawingml/2006/table">
            <a:tbl>
              <a:tblPr/>
              <a:tblGrid>
                <a:gridCol w="868680"/>
                <a:gridCol w="7635240"/>
                <a:gridCol w="2377440"/>
              </a:tblGrid>
              <a:tr h="402840">
                <a:tc>
                  <a:txBody>
                    <a:bodyPr lIns="82080" tIns="41040" rIns="82080" bIns="41040" anchor="ctr">
                      <a:noAutofit/>
                    </a:bodyPr>
                    <a:p>
                      <a:pPr defTabSz="457200">
                        <a:lnSpc>
                          <a:spcPct val="100000"/>
                        </a:lnSpc>
                      </a:pPr>
                      <a:r>
                        <a:rPr lang="en-US" sz="1300" b="1" u="none" strike="noStrike">
                          <a:solidFill>
                            <a:srgbClr val="FFFFFF"/>
                          </a:solidFill>
                          <a:effectLst/>
                          <a:uFillTx/>
                          <a:latin typeface="Calibri"/>
                        </a:rPr>
                        <a:t>Obj.</a:t>
                      </a:r>
                      <a:endParaRPr lang="es-ES" sz="130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c>
                  <a:txBody>
                    <a:bodyPr lIns="82080" tIns="41040" rIns="82080" bIns="41040" anchor="ctr">
                      <a:noAutofit/>
                    </a:bodyPr>
                    <a:p>
                      <a:pPr defTabSz="457200">
                        <a:lnSpc>
                          <a:spcPct val="100000"/>
                        </a:lnSpc>
                      </a:pPr>
                      <a:r>
                        <a:rPr lang="en-US" sz="1300" b="1" u="none" strike="noStrike">
                          <a:solidFill>
                            <a:srgbClr val="FFFFFF"/>
                          </a:solidFill>
                          <a:effectLst/>
                          <a:uFillTx/>
                          <a:latin typeface="Calibri"/>
                        </a:rPr>
                        <a:t>Descripción resumida</a:t>
                      </a:r>
                      <a:endParaRPr lang="es-ES" sz="130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c>
                  <a:txBody>
                    <a:bodyPr lIns="82080" tIns="41040" rIns="82080" bIns="41040" anchor="ctr">
                      <a:noAutofit/>
                    </a:bodyPr>
                    <a:p>
                      <a:pPr defTabSz="457200">
                        <a:lnSpc>
                          <a:spcPct val="100000"/>
                        </a:lnSpc>
                      </a:pPr>
                      <a:r>
                        <a:rPr lang="en-US" sz="1300" b="1" u="none" strike="noStrike">
                          <a:solidFill>
                            <a:srgbClr val="FFFFFF"/>
                          </a:solidFill>
                          <a:effectLst/>
                          <a:uFillTx/>
                          <a:latin typeface="Calibri"/>
                        </a:rPr>
                        <a:t>Estado</a:t>
                      </a:r>
                      <a:endParaRPr lang="es-ES" sz="1300" b="0" u="none" strike="noStrike">
                        <a:solidFill>
                          <a:srgbClr val="FFFFFF"/>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65A82"/>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OE1</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Análisis del ecosistema CVN y sus artefactos oficiales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OE2</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Estudio de alternativas de representación, modelado y validación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OE3</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Generación estructural reproducible desde XSD</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OE4</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Normalización de metadatos CVN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OE5</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Definición de reglas semánticas trazables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OE6</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Generación de modelos de dominio y artefactos conceptuales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OE7</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Definición del formato Open CVN JSON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OE8</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Parser, validador, almacenamiento y exportación</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OE9</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Importación determinista y asistida por LLM</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tIns="41040" rIns="82080" bIns="41040" anchor="ctr">
                      <a:noAutofit/>
                    </a:bodyPr>
                    <a:p>
                      <a:pPr algn="ctr" defTabSz="457200">
                        <a:lnSpc>
                          <a:spcPct val="100000"/>
                        </a:lnSpc>
                      </a:pPr>
                      <a:r>
                        <a:rPr lang="en-US" sz="1250" b="1" u="none" strike="noStrike">
                          <a:solidFill>
                            <a:srgbClr val="E09A3E"/>
                          </a:solidFill>
                          <a:effectLst/>
                          <a:uFillTx/>
                          <a:latin typeface="Calibri"/>
                        </a:rPr>
                        <a:t>Parcial (deliberado)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2840">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OE10</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defTabSz="457200">
                        <a:lnSpc>
                          <a:spcPct val="100000"/>
                        </a:lnSpc>
                      </a:pPr>
                      <a:r>
                        <a:rPr lang="en-US" sz="1250" b="0" u="none" strike="noStrike">
                          <a:solidFill>
                            <a:srgbClr val="162230"/>
                          </a:solidFill>
                          <a:effectLst/>
                          <a:uFillTx/>
                          <a:latin typeface="Calibri"/>
                        </a:rPr>
                        <a:t>Verificación automatizada y flujos reproducibles</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c>
                  <a:txBody>
                    <a:bodyPr lIns="82080" tIns="41040" rIns="82080" bIns="41040" anchor="ctr">
                      <a:noAutofit/>
                    </a:bodyPr>
                    <a:p>
                      <a:pPr algn="ctr" defTabSz="457200">
                        <a:lnSpc>
                          <a:spcPct val="100000"/>
                        </a:lnSpc>
                      </a:pPr>
                      <a:r>
                        <a:rPr lang="en-US" sz="1250" b="1" u="none" strike="noStrike">
                          <a:solidFill>
                            <a:srgbClr val="1C7293"/>
                          </a:solidFill>
                          <a:effectLst/>
                          <a:uFillTx/>
                          <a:latin typeface="Calibri"/>
                        </a:rPr>
                        <a:t>Cumplido</a:t>
                      </a:r>
                      <a:endParaRPr lang="es-ES" sz="1250" b="0" u="none" strike="noStrike">
                        <a:solidFill>
                          <a:srgbClr val="000000"/>
                        </a:solidFill>
                        <a:effectLst/>
                        <a:uFillTx/>
                        <a:latin typeface="Arial"/>
                      </a:endParaRPr>
                    </a:p>
                  </a:txBody>
                  <a:tcPr anchor="ctr" marL="82080" marR="82080" marT="41040" marB="410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4F8"/>
                    </a:solidFill>
                  </a:tcPr>
                </a:tc>
              </a:tr>
            </a:tbl>
          </a:graphicData>
        </a:graphic>
      </p:graphicFrame>
      <p:sp>
        <p:nvSpPr>
          <p:cNvPr id="391" name="TextBox 5"/>
          <p:cNvSpPr/>
          <p:nvPr/>
        </p:nvSpPr>
        <p:spPr>
          <a:xfrm>
            <a:off x="640080" y="6382440"/>
            <a:ext cx="10881000" cy="3654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0" i="1" u="none" strike="noStrike">
                <a:solidFill>
                  <a:srgbClr val="5B6B7A"/>
                </a:solidFill>
                <a:effectLst/>
                <a:uFillTx/>
                <a:latin typeface="Calibri"/>
              </a:rPr>
              <a:t>El objetivo general se considera cumplido: la única salvedad es deliberada, no una carencia.</a:t>
            </a:r>
            <a:endParaRPr lang="es-E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3"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8 · CONCLUSIONES</a:t>
            </a:r>
            <a:endParaRPr lang="es-ES" sz="1300" b="0" u="none" strike="noStrike">
              <a:solidFill>
                <a:srgbClr val="000000"/>
              </a:solidFill>
              <a:effectLst/>
              <a:uFillTx/>
              <a:latin typeface="Arial"/>
            </a:endParaRPr>
          </a:p>
        </p:txBody>
      </p:sp>
      <p:sp>
        <p:nvSpPr>
          <p:cNvPr id="394"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Siete contribuciones, demostradas capítulo a capítulo</a:t>
            </a:r>
            <a:endParaRPr lang="es-ES" sz="3000" b="0" u="none" strike="noStrike">
              <a:solidFill>
                <a:srgbClr val="000000"/>
              </a:solidFill>
              <a:effectLst/>
              <a:uFillTx/>
              <a:latin typeface="Arial"/>
            </a:endParaRPr>
          </a:p>
        </p:txBody>
      </p:sp>
      <p:sp>
        <p:nvSpPr>
          <p:cNvPr id="395" name="Rounded Rectangle 4"/>
          <p:cNvSpPr/>
          <p:nvPr/>
        </p:nvSpPr>
        <p:spPr>
          <a:xfrm>
            <a:off x="640080" y="187452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6" name="Oval 5"/>
          <p:cNvSpPr/>
          <p:nvPr/>
        </p:nvSpPr>
        <p:spPr>
          <a:xfrm>
            <a:off x="804600" y="2039040"/>
            <a:ext cx="438480" cy="43848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1</a:t>
            </a:r>
            <a:endParaRPr lang="es-ES" sz="1500" b="0" u="none" strike="noStrike">
              <a:solidFill>
                <a:srgbClr val="FFFFFF"/>
              </a:solidFill>
              <a:effectLst/>
              <a:uFillTx/>
              <a:latin typeface="Arial"/>
            </a:endParaRPr>
          </a:p>
        </p:txBody>
      </p:sp>
      <p:sp>
        <p:nvSpPr>
          <p:cNvPr id="397" name="TextBox 6"/>
          <p:cNvSpPr/>
          <p:nvPr/>
        </p:nvSpPr>
        <p:spPr>
          <a:xfrm>
            <a:off x="804600" y="262440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Análisis computacional del ecosistema CVN</a:t>
            </a:r>
            <a:endParaRPr lang="es-ES" sz="1250" b="0" u="none" strike="noStrike">
              <a:solidFill>
                <a:srgbClr val="000000"/>
              </a:solidFill>
              <a:effectLst/>
              <a:uFillTx/>
              <a:latin typeface="Arial"/>
            </a:endParaRPr>
          </a:p>
        </p:txBody>
      </p:sp>
      <p:sp>
        <p:nvSpPr>
          <p:cNvPr id="398" name="Rounded Rectangle 7"/>
          <p:cNvSpPr/>
          <p:nvPr/>
        </p:nvSpPr>
        <p:spPr>
          <a:xfrm>
            <a:off x="3396960" y="187452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9" name="Oval 8"/>
          <p:cNvSpPr/>
          <p:nvPr/>
        </p:nvSpPr>
        <p:spPr>
          <a:xfrm>
            <a:off x="3561480" y="2039040"/>
            <a:ext cx="438480" cy="43848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2</a:t>
            </a:r>
            <a:endParaRPr lang="es-ES" sz="1500" b="0" u="none" strike="noStrike">
              <a:solidFill>
                <a:srgbClr val="FFFFFF"/>
              </a:solidFill>
              <a:effectLst/>
              <a:uFillTx/>
              <a:latin typeface="Arial"/>
            </a:endParaRPr>
          </a:p>
        </p:txBody>
      </p:sp>
      <p:sp>
        <p:nvSpPr>
          <p:cNvPr id="400" name="TextBox 9"/>
          <p:cNvSpPr/>
          <p:nvPr/>
        </p:nvSpPr>
        <p:spPr>
          <a:xfrm>
            <a:off x="3561480" y="262440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Arquitectura reproducible por capas</a:t>
            </a:r>
            <a:endParaRPr lang="es-ES" sz="1250" b="0" u="none" strike="noStrike">
              <a:solidFill>
                <a:srgbClr val="000000"/>
              </a:solidFill>
              <a:effectLst/>
              <a:uFillTx/>
              <a:latin typeface="Arial"/>
            </a:endParaRPr>
          </a:p>
        </p:txBody>
      </p:sp>
      <p:sp>
        <p:nvSpPr>
          <p:cNvPr id="401" name="Rounded Rectangle 10"/>
          <p:cNvSpPr/>
          <p:nvPr/>
        </p:nvSpPr>
        <p:spPr>
          <a:xfrm>
            <a:off x="6153840" y="187452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2" name="Oval 11"/>
          <p:cNvSpPr/>
          <p:nvPr/>
        </p:nvSpPr>
        <p:spPr>
          <a:xfrm>
            <a:off x="6318360" y="2039040"/>
            <a:ext cx="438480" cy="43848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3</a:t>
            </a:r>
            <a:endParaRPr lang="es-ES" sz="1500" b="0" u="none" strike="noStrike">
              <a:solidFill>
                <a:srgbClr val="FFFFFF"/>
              </a:solidFill>
              <a:effectLst/>
              <a:uFillTx/>
              <a:latin typeface="Arial"/>
            </a:endParaRPr>
          </a:p>
        </p:txBody>
      </p:sp>
      <p:sp>
        <p:nvSpPr>
          <p:cNvPr id="403" name="TextBox 12"/>
          <p:cNvSpPr/>
          <p:nvPr/>
        </p:nvSpPr>
        <p:spPr>
          <a:xfrm>
            <a:off x="6318360" y="262440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Trazabilidad entre CVN y Open CVN</a:t>
            </a:r>
            <a:endParaRPr lang="es-ES" sz="1250" b="0" u="none" strike="noStrike">
              <a:solidFill>
                <a:srgbClr val="000000"/>
              </a:solidFill>
              <a:effectLst/>
              <a:uFillTx/>
              <a:latin typeface="Arial"/>
            </a:endParaRPr>
          </a:p>
        </p:txBody>
      </p:sp>
      <p:sp>
        <p:nvSpPr>
          <p:cNvPr id="404" name="Rounded Rectangle 13"/>
          <p:cNvSpPr/>
          <p:nvPr/>
        </p:nvSpPr>
        <p:spPr>
          <a:xfrm>
            <a:off x="8910720" y="187452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5" name="Oval 14"/>
          <p:cNvSpPr/>
          <p:nvPr/>
        </p:nvSpPr>
        <p:spPr>
          <a:xfrm>
            <a:off x="9075600" y="2039040"/>
            <a:ext cx="438480" cy="438480"/>
          </a:xfrm>
          <a:prstGeom prst="ellipse">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4</a:t>
            </a:r>
            <a:endParaRPr lang="es-ES" sz="1500" b="0" u="none" strike="noStrike">
              <a:solidFill>
                <a:srgbClr val="FFFFFF"/>
              </a:solidFill>
              <a:effectLst/>
              <a:uFillTx/>
              <a:latin typeface="Arial"/>
            </a:endParaRPr>
          </a:p>
        </p:txBody>
      </p:sp>
      <p:sp>
        <p:nvSpPr>
          <p:cNvPr id="406" name="TextBox 15"/>
          <p:cNvSpPr/>
          <p:nvPr/>
        </p:nvSpPr>
        <p:spPr>
          <a:xfrm>
            <a:off x="9075600" y="262440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Formato Open CVN JSON</a:t>
            </a:r>
            <a:endParaRPr lang="es-ES" sz="1250" b="0" u="none" strike="noStrike">
              <a:solidFill>
                <a:srgbClr val="000000"/>
              </a:solidFill>
              <a:effectLst/>
              <a:uFillTx/>
              <a:latin typeface="Arial"/>
            </a:endParaRPr>
          </a:p>
        </p:txBody>
      </p:sp>
      <p:sp>
        <p:nvSpPr>
          <p:cNvPr id="407" name="Rounded Rectangle 16"/>
          <p:cNvSpPr/>
          <p:nvPr/>
        </p:nvSpPr>
        <p:spPr>
          <a:xfrm>
            <a:off x="2018520" y="374904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8" name="Oval 17"/>
          <p:cNvSpPr/>
          <p:nvPr/>
        </p:nvSpPr>
        <p:spPr>
          <a:xfrm>
            <a:off x="2183040" y="3913560"/>
            <a:ext cx="438480" cy="43848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5</a:t>
            </a:r>
            <a:endParaRPr lang="es-ES" sz="1500" b="0" u="none" strike="noStrike">
              <a:solidFill>
                <a:srgbClr val="FFFFFF"/>
              </a:solidFill>
              <a:effectLst/>
              <a:uFillTx/>
              <a:latin typeface="Arial"/>
            </a:endParaRPr>
          </a:p>
        </p:txBody>
      </p:sp>
      <p:sp>
        <p:nvSpPr>
          <p:cNvPr id="409" name="TextBox 18"/>
          <p:cNvSpPr/>
          <p:nvPr/>
        </p:nvSpPr>
        <p:spPr>
          <a:xfrm>
            <a:off x="2183040" y="449892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Herramientas de validación y uso</a:t>
            </a:r>
            <a:endParaRPr lang="es-ES" sz="1250" b="0" u="none" strike="noStrike">
              <a:solidFill>
                <a:srgbClr val="000000"/>
              </a:solidFill>
              <a:effectLst/>
              <a:uFillTx/>
              <a:latin typeface="Arial"/>
            </a:endParaRPr>
          </a:p>
        </p:txBody>
      </p:sp>
      <p:sp>
        <p:nvSpPr>
          <p:cNvPr id="410" name="Rounded Rectangle 19"/>
          <p:cNvSpPr/>
          <p:nvPr/>
        </p:nvSpPr>
        <p:spPr>
          <a:xfrm>
            <a:off x="4775400" y="374904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1" name="Oval 20"/>
          <p:cNvSpPr/>
          <p:nvPr/>
        </p:nvSpPr>
        <p:spPr>
          <a:xfrm>
            <a:off x="4939920" y="3913560"/>
            <a:ext cx="438480" cy="43848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6</a:t>
            </a:r>
            <a:endParaRPr lang="es-ES" sz="1500" b="0" u="none" strike="noStrike">
              <a:solidFill>
                <a:srgbClr val="FFFFFF"/>
              </a:solidFill>
              <a:effectLst/>
              <a:uFillTx/>
              <a:latin typeface="Arial"/>
            </a:endParaRPr>
          </a:p>
        </p:txBody>
      </p:sp>
      <p:sp>
        <p:nvSpPr>
          <p:cNvPr id="412" name="TextBox 21"/>
          <p:cNvSpPr/>
          <p:nvPr/>
        </p:nvSpPr>
        <p:spPr>
          <a:xfrm>
            <a:off x="4939920" y="449892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Importación determinista y asistida por LLM</a:t>
            </a:r>
            <a:endParaRPr lang="es-ES" sz="1250" b="0" u="none" strike="noStrike">
              <a:solidFill>
                <a:srgbClr val="000000"/>
              </a:solidFill>
              <a:effectLst/>
              <a:uFillTx/>
              <a:latin typeface="Arial"/>
            </a:endParaRPr>
          </a:p>
        </p:txBody>
      </p:sp>
      <p:sp>
        <p:nvSpPr>
          <p:cNvPr id="413" name="Rounded Rectangle 22"/>
          <p:cNvSpPr/>
          <p:nvPr/>
        </p:nvSpPr>
        <p:spPr>
          <a:xfrm>
            <a:off x="7532280" y="3749040"/>
            <a:ext cx="2610360" cy="1691280"/>
          </a:xfrm>
          <a:prstGeom prst="roundRect">
            <a:avLst>
              <a:gd name="adj" fmla="val 10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4" name="Oval 23"/>
          <p:cNvSpPr/>
          <p:nvPr/>
        </p:nvSpPr>
        <p:spPr>
          <a:xfrm>
            <a:off x="7696800" y="3913560"/>
            <a:ext cx="438480" cy="43848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500" b="1" u="none" strike="noStrike">
                <a:solidFill>
                  <a:srgbClr val="FFFFFF"/>
                </a:solidFill>
                <a:effectLst/>
                <a:uFillTx/>
                <a:latin typeface="Calibri"/>
              </a:rPr>
              <a:t>7</a:t>
            </a:r>
            <a:endParaRPr lang="es-ES" sz="1500" b="0" u="none" strike="noStrike">
              <a:solidFill>
                <a:srgbClr val="FFFFFF"/>
              </a:solidFill>
              <a:effectLst/>
              <a:uFillTx/>
              <a:latin typeface="Arial"/>
            </a:endParaRPr>
          </a:p>
        </p:txBody>
      </p:sp>
      <p:sp>
        <p:nvSpPr>
          <p:cNvPr id="415" name="TextBox 24"/>
          <p:cNvSpPr/>
          <p:nvPr/>
        </p:nvSpPr>
        <p:spPr>
          <a:xfrm>
            <a:off x="7696800" y="4498920"/>
            <a:ext cx="2280960" cy="8226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1250" b="1" u="none" strike="noStrike">
                <a:solidFill>
                  <a:srgbClr val="11243A"/>
                </a:solidFill>
                <a:effectLst/>
                <a:uFillTx/>
                <a:latin typeface="Calibri"/>
              </a:rPr>
              <a:t>Verificación automatizada</a:t>
            </a:r>
            <a:endParaRPr lang="es-E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Rectangle 1"/>
          <p:cNvSpPr/>
          <p:nvPr/>
        </p:nvSpPr>
        <p:spPr>
          <a:xfrm>
            <a:off x="0" y="0"/>
            <a:ext cx="12191400" cy="685764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7" name="TextBox 2"/>
          <p:cNvSpPr/>
          <p:nvPr/>
        </p:nvSpPr>
        <p:spPr>
          <a:xfrm>
            <a:off x="548640" y="384120"/>
            <a:ext cx="914364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C7293"/>
                </a:solidFill>
                <a:effectLst/>
                <a:uFillTx/>
                <a:latin typeface="Calibri"/>
              </a:rPr>
              <a:t>8 · CONCLUSIONES</a:t>
            </a:r>
            <a:endParaRPr lang="es-ES" sz="1300" b="0" u="none" strike="noStrike">
              <a:solidFill>
                <a:srgbClr val="000000"/>
              </a:solidFill>
              <a:effectLst/>
              <a:uFillTx/>
              <a:latin typeface="Arial"/>
            </a:endParaRPr>
          </a:p>
        </p:txBody>
      </p:sp>
      <p:sp>
        <p:nvSpPr>
          <p:cNvPr id="418" name="TextBox 3"/>
          <p:cNvSpPr/>
          <p:nvPr/>
        </p:nvSpPr>
        <p:spPr>
          <a:xfrm>
            <a:off x="548640" y="658440"/>
            <a:ext cx="11063880" cy="822600"/>
          </a:xfrm>
          <a:prstGeom prst="rect">
            <a:avLst/>
          </a:prstGeom>
          <a:noFill/>
          <a:ln w="0">
            <a:noFill/>
          </a:ln>
        </p:spPr>
        <p:style>
          <a:lnRef idx="0"/>
          <a:fillRef idx="0"/>
          <a:effectRef idx="0"/>
          <a:fontRef idx="minor"/>
        </p:style>
        <p:txBody>
          <a:bodyPr lIns="0" tIns="0" rIns="0" bIns="0" anchor="t">
            <a:spAutoFit/>
          </a:bodyPr>
          <a:p>
            <a:pPr defTabSz="457200">
              <a:lnSpc>
                <a:spcPct val="102000"/>
              </a:lnSpc>
            </a:pPr>
            <a:r>
              <a:rPr lang="en-US" sz="3000" b="1" u="none" strike="noStrike">
                <a:solidFill>
                  <a:srgbClr val="11243A"/>
                </a:solidFill>
                <a:effectLst/>
                <a:uFillTx/>
                <a:latin typeface="Cambria"/>
              </a:rPr>
              <a:t>Conclusión y líneas de trabajo futuro</a:t>
            </a:r>
            <a:endParaRPr lang="es-ES" sz="3000" b="0" u="none" strike="noStrike">
              <a:solidFill>
                <a:srgbClr val="000000"/>
              </a:solidFill>
              <a:effectLst/>
              <a:uFillTx/>
              <a:latin typeface="Arial"/>
            </a:endParaRPr>
          </a:p>
        </p:txBody>
      </p:sp>
      <p:sp>
        <p:nvSpPr>
          <p:cNvPr id="419" name="Rounded Rectangle 4"/>
          <p:cNvSpPr/>
          <p:nvPr/>
        </p:nvSpPr>
        <p:spPr>
          <a:xfrm>
            <a:off x="640080" y="1783080"/>
            <a:ext cx="5211720" cy="4205880"/>
          </a:xfrm>
          <a:prstGeom prst="roundRect">
            <a:avLst>
              <a:gd name="adj" fmla="val 9000"/>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0" name="TextBox 5"/>
          <p:cNvSpPr/>
          <p:nvPr/>
        </p:nvSpPr>
        <p:spPr>
          <a:xfrm>
            <a:off x="896040" y="2011680"/>
            <a:ext cx="4708800" cy="3654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E09A3E"/>
                </a:solidFill>
                <a:effectLst/>
                <a:uFillTx/>
                <a:latin typeface="Calibri"/>
              </a:rPr>
              <a:t>CONCLUSIÓN</a:t>
            </a:r>
            <a:endParaRPr lang="es-ES" sz="1200" b="0" u="none" strike="noStrike">
              <a:solidFill>
                <a:srgbClr val="000000"/>
              </a:solidFill>
              <a:effectLst/>
              <a:uFillTx/>
              <a:latin typeface="Arial"/>
            </a:endParaRPr>
          </a:p>
        </p:txBody>
      </p:sp>
      <p:sp>
        <p:nvSpPr>
          <p:cNvPr id="421" name="TextBox 6"/>
          <p:cNvSpPr/>
          <p:nvPr/>
        </p:nvSpPr>
        <p:spPr>
          <a:xfrm>
            <a:off x="896040" y="2423160"/>
            <a:ext cx="4708800" cy="32914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601"/>
              </a:spcAft>
            </a:pPr>
            <a:r>
              <a:rPr lang="en-US" sz="1450" b="0" i="1" u="none" strike="noStrike">
                <a:solidFill>
                  <a:srgbClr val="E9F1F7"/>
                </a:solidFill>
                <a:effectLst/>
                <a:uFillTx/>
                <a:latin typeface="Cambria"/>
              </a:rPr>
              <a:t>Este trabajo demuestra que es posible construir, a partir de CVN, una arquitectura computacional abierta que separa la interoperabilidad estructural del significado curricular, con trazabilidad verificable y garantías reproducibles allí donde el proceso es determinista.</a:t>
            </a:r>
            <a:endParaRPr lang="es-ES" sz="1450" b="0" u="none" strike="noStrike">
              <a:solidFill>
                <a:srgbClr val="000000"/>
              </a:solidFill>
              <a:effectLst/>
              <a:uFillTx/>
              <a:latin typeface="Arial"/>
            </a:endParaRPr>
          </a:p>
          <a:p>
            <a:pPr defTabSz="457200">
              <a:lnSpc>
                <a:spcPct val="122000"/>
              </a:lnSpc>
              <a:spcAft>
                <a:spcPts val="601"/>
              </a:spcAft>
            </a:pPr>
            <a:endParaRPr lang="es-ES" sz="1450" b="0" u="none" strike="noStrike">
              <a:solidFill>
                <a:srgbClr val="000000"/>
              </a:solidFill>
              <a:effectLst/>
              <a:uFillTx/>
              <a:latin typeface="Arial"/>
            </a:endParaRPr>
          </a:p>
          <a:p>
            <a:pPr defTabSz="457200">
              <a:lnSpc>
                <a:spcPct val="122000"/>
              </a:lnSpc>
              <a:spcAft>
                <a:spcPts val="601"/>
              </a:spcAft>
            </a:pPr>
            <a:r>
              <a:rPr lang="en-US" sz="1450" b="0" i="1" u="none" strike="noStrike">
                <a:solidFill>
                  <a:srgbClr val="E9F1F7"/>
                </a:solidFill>
                <a:effectLst/>
                <a:uFillTx/>
                <a:latin typeface="Cambria"/>
              </a:rPr>
              <a:t>Esa arquitectura por capas —más que el formato JSON o la herramienta que la demuestran— es la aportación principal de este Trabajo Fin de Grado.</a:t>
            </a:r>
            <a:endParaRPr lang="es-ES" sz="1450" b="0" u="none" strike="noStrike">
              <a:solidFill>
                <a:srgbClr val="000000"/>
              </a:solidFill>
              <a:effectLst/>
              <a:uFillTx/>
              <a:latin typeface="Arial"/>
            </a:endParaRPr>
          </a:p>
        </p:txBody>
      </p:sp>
      <p:sp>
        <p:nvSpPr>
          <p:cNvPr id="422" name="TextBox 7"/>
          <p:cNvSpPr/>
          <p:nvPr/>
        </p:nvSpPr>
        <p:spPr>
          <a:xfrm>
            <a:off x="6172200" y="1783080"/>
            <a:ext cx="5348880" cy="3196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C7293"/>
                </a:solidFill>
                <a:effectLst/>
                <a:uFillTx/>
                <a:latin typeface="Calibri"/>
              </a:rPr>
              <a:t>TRABAJO FUTURO</a:t>
            </a:r>
            <a:endParaRPr lang="es-ES" sz="1200" b="0" u="none" strike="noStrike">
              <a:solidFill>
                <a:srgbClr val="000000"/>
              </a:solidFill>
              <a:effectLst/>
              <a:uFillTx/>
              <a:latin typeface="Arial"/>
            </a:endParaRPr>
          </a:p>
        </p:txBody>
      </p:sp>
      <p:sp>
        <p:nvSpPr>
          <p:cNvPr id="423" name="Rounded Rectangle 8"/>
          <p:cNvSpPr/>
          <p:nvPr/>
        </p:nvSpPr>
        <p:spPr>
          <a:xfrm>
            <a:off x="6172200" y="2167200"/>
            <a:ext cx="5348880" cy="685440"/>
          </a:xfrm>
          <a:prstGeom prst="roundRect">
            <a:avLst>
              <a:gd name="adj" fmla="val 14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4" name="Oval 9"/>
          <p:cNvSpPr/>
          <p:nvPr/>
        </p:nvSpPr>
        <p:spPr>
          <a:xfrm>
            <a:off x="6309360" y="2295000"/>
            <a:ext cx="420120" cy="42012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300" b="1" u="none" strike="noStrike">
                <a:solidFill>
                  <a:srgbClr val="FFFFFF"/>
                </a:solidFill>
                <a:effectLst/>
                <a:uFillTx/>
                <a:latin typeface="Calibri"/>
              </a:rPr>
              <a:t>1</a:t>
            </a:r>
            <a:endParaRPr lang="es-ES" sz="1300" b="0" u="none" strike="noStrike">
              <a:solidFill>
                <a:srgbClr val="FFFFFF"/>
              </a:solidFill>
              <a:effectLst/>
              <a:uFillTx/>
              <a:latin typeface="Arial"/>
            </a:endParaRPr>
          </a:p>
        </p:txBody>
      </p:sp>
      <p:sp>
        <p:nvSpPr>
          <p:cNvPr id="425" name="TextBox 10"/>
          <p:cNvSpPr/>
          <p:nvPr/>
        </p:nvSpPr>
        <p:spPr>
          <a:xfrm>
            <a:off x="6830640" y="2167200"/>
            <a:ext cx="4525920" cy="685440"/>
          </a:xfrm>
          <a:prstGeom prst="rect">
            <a:avLst/>
          </a:prstGeom>
          <a:noFill/>
          <a:ln w="0">
            <a:noFill/>
          </a:ln>
        </p:spPr>
        <p:style>
          <a:lnRef idx="0"/>
          <a:fillRef idx="0"/>
          <a:effectRef idx="0"/>
          <a:fontRef idx="minor"/>
        </p:style>
        <p:txBody>
          <a:bodyPr lIns="0" tIns="0" rIns="0" bIns="0" anchor="ctr">
            <a:spAutoFit/>
          </a:bodyPr>
          <a:p>
            <a:pPr defTabSz="457200">
              <a:lnSpc>
                <a:spcPct val="105000"/>
              </a:lnSpc>
            </a:pPr>
            <a:r>
              <a:rPr lang="en-US" sz="1180" b="0" u="none" strike="noStrike">
                <a:solidFill>
                  <a:srgbClr val="162230"/>
                </a:solidFill>
                <a:effectLst/>
                <a:uFillTx/>
                <a:latin typeface="Calibri"/>
              </a:rPr>
              <a:t>Completar el mapeo semántico de importación XML con currículos reales</a:t>
            </a:r>
            <a:endParaRPr lang="es-ES" sz="1180" b="0" u="none" strike="noStrike">
              <a:solidFill>
                <a:srgbClr val="000000"/>
              </a:solidFill>
              <a:effectLst/>
              <a:uFillTx/>
              <a:latin typeface="Arial"/>
            </a:endParaRPr>
          </a:p>
        </p:txBody>
      </p:sp>
      <p:sp>
        <p:nvSpPr>
          <p:cNvPr id="426" name="Rounded Rectangle 11"/>
          <p:cNvSpPr/>
          <p:nvPr/>
        </p:nvSpPr>
        <p:spPr>
          <a:xfrm>
            <a:off x="6172200" y="2971800"/>
            <a:ext cx="5348880" cy="685440"/>
          </a:xfrm>
          <a:prstGeom prst="roundRect">
            <a:avLst>
              <a:gd name="adj" fmla="val 14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7" name="Oval 12"/>
          <p:cNvSpPr/>
          <p:nvPr/>
        </p:nvSpPr>
        <p:spPr>
          <a:xfrm>
            <a:off x="6309360" y="3099960"/>
            <a:ext cx="420120" cy="42012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300" b="1" u="none" strike="noStrike">
                <a:solidFill>
                  <a:srgbClr val="FFFFFF"/>
                </a:solidFill>
                <a:effectLst/>
                <a:uFillTx/>
                <a:latin typeface="Calibri"/>
              </a:rPr>
              <a:t>2</a:t>
            </a:r>
            <a:endParaRPr lang="es-ES" sz="1300" b="0" u="none" strike="noStrike">
              <a:solidFill>
                <a:srgbClr val="FFFFFF"/>
              </a:solidFill>
              <a:effectLst/>
              <a:uFillTx/>
              <a:latin typeface="Arial"/>
            </a:endParaRPr>
          </a:p>
        </p:txBody>
      </p:sp>
      <p:sp>
        <p:nvSpPr>
          <p:cNvPr id="428" name="TextBox 13"/>
          <p:cNvSpPr/>
          <p:nvPr/>
        </p:nvSpPr>
        <p:spPr>
          <a:xfrm>
            <a:off x="6830640" y="2971800"/>
            <a:ext cx="4525920" cy="685440"/>
          </a:xfrm>
          <a:prstGeom prst="rect">
            <a:avLst/>
          </a:prstGeom>
          <a:noFill/>
          <a:ln w="0">
            <a:noFill/>
          </a:ln>
        </p:spPr>
        <p:style>
          <a:lnRef idx="0"/>
          <a:fillRef idx="0"/>
          <a:effectRef idx="0"/>
          <a:fontRef idx="minor"/>
        </p:style>
        <p:txBody>
          <a:bodyPr lIns="0" tIns="0" rIns="0" bIns="0" anchor="ctr">
            <a:spAutoFit/>
          </a:bodyPr>
          <a:p>
            <a:pPr defTabSz="457200">
              <a:lnSpc>
                <a:spcPct val="105000"/>
              </a:lnSpc>
            </a:pPr>
            <a:r>
              <a:rPr lang="en-US" sz="1180" b="0" u="none" strike="noStrike">
                <a:solidFill>
                  <a:srgbClr val="162230"/>
                </a:solidFill>
                <a:effectLst/>
                <a:uFillTx/>
                <a:latin typeface="Calibri"/>
              </a:rPr>
              <a:t>Ampliar las validaciones de dominio fuera de la capa estructural generada</a:t>
            </a:r>
            <a:endParaRPr lang="es-ES" sz="1180" b="0" u="none" strike="noStrike">
              <a:solidFill>
                <a:srgbClr val="000000"/>
              </a:solidFill>
              <a:effectLst/>
              <a:uFillTx/>
              <a:latin typeface="Arial"/>
            </a:endParaRPr>
          </a:p>
        </p:txBody>
      </p:sp>
      <p:sp>
        <p:nvSpPr>
          <p:cNvPr id="429" name="Rounded Rectangle 14"/>
          <p:cNvSpPr/>
          <p:nvPr/>
        </p:nvSpPr>
        <p:spPr>
          <a:xfrm>
            <a:off x="6172200" y="3776400"/>
            <a:ext cx="5348880" cy="685440"/>
          </a:xfrm>
          <a:prstGeom prst="roundRect">
            <a:avLst>
              <a:gd name="adj" fmla="val 14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0" name="Oval 15"/>
          <p:cNvSpPr/>
          <p:nvPr/>
        </p:nvSpPr>
        <p:spPr>
          <a:xfrm>
            <a:off x="6309360" y="3904560"/>
            <a:ext cx="420120" cy="42012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300" b="1" u="none" strike="noStrike">
                <a:solidFill>
                  <a:srgbClr val="FFFFFF"/>
                </a:solidFill>
                <a:effectLst/>
                <a:uFillTx/>
                <a:latin typeface="Calibri"/>
              </a:rPr>
              <a:t>3</a:t>
            </a:r>
            <a:endParaRPr lang="es-ES" sz="1300" b="0" u="none" strike="noStrike">
              <a:solidFill>
                <a:srgbClr val="FFFFFF"/>
              </a:solidFill>
              <a:effectLst/>
              <a:uFillTx/>
              <a:latin typeface="Arial"/>
            </a:endParaRPr>
          </a:p>
        </p:txBody>
      </p:sp>
      <p:sp>
        <p:nvSpPr>
          <p:cNvPr id="431" name="TextBox 16"/>
          <p:cNvSpPr/>
          <p:nvPr/>
        </p:nvSpPr>
        <p:spPr>
          <a:xfrm>
            <a:off x="6830640" y="3776400"/>
            <a:ext cx="4525920" cy="685440"/>
          </a:xfrm>
          <a:prstGeom prst="rect">
            <a:avLst/>
          </a:prstGeom>
          <a:noFill/>
          <a:ln w="0">
            <a:noFill/>
          </a:ln>
        </p:spPr>
        <p:style>
          <a:lnRef idx="0"/>
          <a:fillRef idx="0"/>
          <a:effectRef idx="0"/>
          <a:fontRef idx="minor"/>
        </p:style>
        <p:txBody>
          <a:bodyPr lIns="0" tIns="0" rIns="0" bIns="0" anchor="ctr">
            <a:spAutoFit/>
          </a:bodyPr>
          <a:p>
            <a:pPr defTabSz="457200">
              <a:lnSpc>
                <a:spcPct val="105000"/>
              </a:lnSpc>
            </a:pPr>
            <a:r>
              <a:rPr lang="en-US" sz="1180" b="0" u="none" strike="noStrike">
                <a:solidFill>
                  <a:srgbClr val="162230"/>
                </a:solidFill>
                <a:effectLst/>
                <a:uFillTx/>
                <a:latin typeface="Calibri"/>
              </a:rPr>
              <a:t>Estudiar restricciones OCL sobre el modelo conceptual</a:t>
            </a:r>
            <a:endParaRPr lang="es-ES" sz="1180" b="0" u="none" strike="noStrike">
              <a:solidFill>
                <a:srgbClr val="000000"/>
              </a:solidFill>
              <a:effectLst/>
              <a:uFillTx/>
              <a:latin typeface="Arial"/>
            </a:endParaRPr>
          </a:p>
        </p:txBody>
      </p:sp>
      <p:sp>
        <p:nvSpPr>
          <p:cNvPr id="432" name="Rounded Rectangle 17"/>
          <p:cNvSpPr/>
          <p:nvPr/>
        </p:nvSpPr>
        <p:spPr>
          <a:xfrm>
            <a:off x="6172200" y="4581000"/>
            <a:ext cx="5348880" cy="685440"/>
          </a:xfrm>
          <a:prstGeom prst="roundRect">
            <a:avLst>
              <a:gd name="adj" fmla="val 14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3" name="Oval 18"/>
          <p:cNvSpPr/>
          <p:nvPr/>
        </p:nvSpPr>
        <p:spPr>
          <a:xfrm>
            <a:off x="6309360" y="4709160"/>
            <a:ext cx="420120" cy="42012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300" b="1" u="none" strike="noStrike">
                <a:solidFill>
                  <a:srgbClr val="FFFFFF"/>
                </a:solidFill>
                <a:effectLst/>
                <a:uFillTx/>
                <a:latin typeface="Calibri"/>
              </a:rPr>
              <a:t>4</a:t>
            </a:r>
            <a:endParaRPr lang="es-ES" sz="1300" b="0" u="none" strike="noStrike">
              <a:solidFill>
                <a:srgbClr val="FFFFFF"/>
              </a:solidFill>
              <a:effectLst/>
              <a:uFillTx/>
              <a:latin typeface="Arial"/>
            </a:endParaRPr>
          </a:p>
        </p:txBody>
      </p:sp>
      <p:sp>
        <p:nvSpPr>
          <p:cNvPr id="434" name="TextBox 19"/>
          <p:cNvSpPr/>
          <p:nvPr/>
        </p:nvSpPr>
        <p:spPr>
          <a:xfrm>
            <a:off x="6830640" y="4581000"/>
            <a:ext cx="4525920" cy="685440"/>
          </a:xfrm>
          <a:prstGeom prst="rect">
            <a:avLst/>
          </a:prstGeom>
          <a:noFill/>
          <a:ln w="0">
            <a:noFill/>
          </a:ln>
        </p:spPr>
        <p:style>
          <a:lnRef idx="0"/>
          <a:fillRef idx="0"/>
          <a:effectRef idx="0"/>
          <a:fontRef idx="minor"/>
        </p:style>
        <p:txBody>
          <a:bodyPr lIns="0" tIns="0" rIns="0" bIns="0" anchor="ctr">
            <a:spAutoFit/>
          </a:bodyPr>
          <a:p>
            <a:pPr defTabSz="457200">
              <a:lnSpc>
                <a:spcPct val="105000"/>
              </a:lnSpc>
            </a:pPr>
            <a:r>
              <a:rPr lang="en-US" sz="1180" b="0" u="none" strike="noStrike">
                <a:solidFill>
                  <a:srgbClr val="162230"/>
                </a:solidFill>
                <a:effectLst/>
                <a:uFillTx/>
                <a:latin typeface="Calibri"/>
              </a:rPr>
              <a:t>Reducir la dependencia de un motor LaTeX en la generación de PDF</a:t>
            </a:r>
            <a:endParaRPr lang="es-ES" sz="1180" b="0" u="none" strike="noStrike">
              <a:solidFill>
                <a:srgbClr val="000000"/>
              </a:solidFill>
              <a:effectLst/>
              <a:uFillTx/>
              <a:latin typeface="Arial"/>
            </a:endParaRPr>
          </a:p>
        </p:txBody>
      </p:sp>
      <p:sp>
        <p:nvSpPr>
          <p:cNvPr id="435" name="Rounded Rectangle 20"/>
          <p:cNvSpPr/>
          <p:nvPr/>
        </p:nvSpPr>
        <p:spPr>
          <a:xfrm>
            <a:off x="6172200" y="5385960"/>
            <a:ext cx="5348880" cy="685440"/>
          </a:xfrm>
          <a:prstGeom prst="roundRect">
            <a:avLst>
              <a:gd name="adj" fmla="val 14000"/>
            </a:avLst>
          </a:prstGeom>
          <a:solidFill>
            <a:srgbClr val="F0F4F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6" name="Oval 21"/>
          <p:cNvSpPr/>
          <p:nvPr/>
        </p:nvSpPr>
        <p:spPr>
          <a:xfrm>
            <a:off x="6309360" y="5513760"/>
            <a:ext cx="420120" cy="420120"/>
          </a:xfrm>
          <a:prstGeom prst="ellipse">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8360" tIns="0" rIns="18360" bIns="0" anchor="ctr">
            <a:noAutofit/>
          </a:bodyPr>
          <a:p>
            <a:pPr algn="ctr" defTabSz="457200">
              <a:lnSpc>
                <a:spcPct val="100000"/>
              </a:lnSpc>
            </a:pPr>
            <a:r>
              <a:rPr lang="en-US" sz="1300" b="1" u="none" strike="noStrike">
                <a:solidFill>
                  <a:srgbClr val="FFFFFF"/>
                </a:solidFill>
                <a:effectLst/>
                <a:uFillTx/>
                <a:latin typeface="Calibri"/>
              </a:rPr>
              <a:t>5</a:t>
            </a:r>
            <a:endParaRPr lang="es-ES" sz="1300" b="0" u="none" strike="noStrike">
              <a:solidFill>
                <a:srgbClr val="FFFFFF"/>
              </a:solidFill>
              <a:effectLst/>
              <a:uFillTx/>
              <a:latin typeface="Arial"/>
            </a:endParaRPr>
          </a:p>
        </p:txBody>
      </p:sp>
      <p:sp>
        <p:nvSpPr>
          <p:cNvPr id="437" name="TextBox 22"/>
          <p:cNvSpPr/>
          <p:nvPr/>
        </p:nvSpPr>
        <p:spPr>
          <a:xfrm>
            <a:off x="6830640" y="5385960"/>
            <a:ext cx="4525920" cy="685440"/>
          </a:xfrm>
          <a:prstGeom prst="rect">
            <a:avLst/>
          </a:prstGeom>
          <a:noFill/>
          <a:ln w="0">
            <a:noFill/>
          </a:ln>
        </p:spPr>
        <p:style>
          <a:lnRef idx="0"/>
          <a:fillRef idx="0"/>
          <a:effectRef idx="0"/>
          <a:fontRef idx="minor"/>
        </p:style>
        <p:txBody>
          <a:bodyPr lIns="0" tIns="0" rIns="0" bIns="0" anchor="ctr">
            <a:spAutoFit/>
          </a:bodyPr>
          <a:p>
            <a:pPr defTabSz="457200">
              <a:lnSpc>
                <a:spcPct val="105000"/>
              </a:lnSpc>
            </a:pPr>
            <a:r>
              <a:rPr lang="en-US" sz="1180" b="0" u="none" strike="noStrike">
                <a:solidFill>
                  <a:srgbClr val="162230"/>
                </a:solidFill>
                <a:effectLst/>
                <a:uFillTx/>
                <a:latin typeface="Calibri"/>
              </a:rPr>
              <a:t>Explorar extensiones semánticas (JSON-LD) e integración institucional</a:t>
            </a:r>
            <a:endParaRPr lang="es-ES" sz="11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Rectangle 1"/>
          <p:cNvSpPr/>
          <p:nvPr/>
        </p:nvSpPr>
        <p:spPr>
          <a:xfrm>
            <a:off x="0" y="0"/>
            <a:ext cx="12191400" cy="6857640"/>
          </a:xfrm>
          <a:prstGeom prst="rect">
            <a:avLst/>
          </a:prstGeom>
          <a:solidFill>
            <a:srgbClr val="1124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9" name="Rectangle 2"/>
          <p:cNvSpPr/>
          <p:nvPr/>
        </p:nvSpPr>
        <p:spPr>
          <a:xfrm>
            <a:off x="0" y="0"/>
            <a:ext cx="5120280" cy="182520"/>
          </a:xfrm>
          <a:prstGeom prst="rect">
            <a:avLst/>
          </a:prstGeom>
          <a:solidFill>
            <a:srgbClr val="E09A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40" name="Rectangle 3"/>
          <p:cNvSpPr/>
          <p:nvPr/>
        </p:nvSpPr>
        <p:spPr>
          <a:xfrm>
            <a:off x="0" y="219600"/>
            <a:ext cx="8595000" cy="182520"/>
          </a:xfrm>
          <a:prstGeom prst="rect">
            <a:avLst/>
          </a:prstGeom>
          <a:solidFill>
            <a:srgbClr val="1C729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41" name="Rectangle 4"/>
          <p:cNvSpPr/>
          <p:nvPr/>
        </p:nvSpPr>
        <p:spPr>
          <a:xfrm>
            <a:off x="0" y="438840"/>
            <a:ext cx="12191400" cy="182520"/>
          </a:xfrm>
          <a:prstGeom prst="rect">
            <a:avLst/>
          </a:prstGeom>
          <a:solidFill>
            <a:srgbClr val="065A8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42" name="TextBox 5"/>
          <p:cNvSpPr/>
          <p:nvPr/>
        </p:nvSpPr>
        <p:spPr>
          <a:xfrm>
            <a:off x="640080" y="2514600"/>
            <a:ext cx="10881000" cy="100548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4400" b="1" u="none" strike="noStrike">
                <a:solidFill>
                  <a:srgbClr val="FFFFFF"/>
                </a:solidFill>
                <a:effectLst/>
                <a:uFillTx/>
                <a:latin typeface="Cambria"/>
              </a:rPr>
              <a:t>Gracias por su atención</a:t>
            </a:r>
            <a:endParaRPr lang="es-ES" sz="4400" b="0" u="none" strike="noStrike">
              <a:solidFill>
                <a:srgbClr val="000000"/>
              </a:solidFill>
              <a:effectLst/>
              <a:uFillTx/>
              <a:latin typeface="Arial"/>
            </a:endParaRPr>
          </a:p>
        </p:txBody>
      </p:sp>
      <p:sp>
        <p:nvSpPr>
          <p:cNvPr id="443" name="TextBox 6"/>
          <p:cNvSpPr/>
          <p:nvPr/>
        </p:nvSpPr>
        <p:spPr>
          <a:xfrm>
            <a:off x="640080" y="3520440"/>
            <a:ext cx="10881000" cy="54828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800" b="0" i="1" u="none" strike="noStrike">
                <a:solidFill>
                  <a:srgbClr val="E9F1F7"/>
                </a:solidFill>
                <a:effectLst/>
                <a:uFillTx/>
                <a:latin typeface="Calibri"/>
              </a:rPr>
              <a:t>Quedo a su disposición para las preguntas del tribunal</a:t>
            </a:r>
            <a:endParaRPr lang="es-ES" sz="1800" b="0" u="none" strike="noStrike">
              <a:solidFill>
                <a:srgbClr val="000000"/>
              </a:solidFill>
              <a:effectLst/>
              <a:uFillTx/>
              <a:latin typeface="Arial"/>
            </a:endParaRPr>
          </a:p>
        </p:txBody>
      </p:sp>
      <p:sp>
        <p:nvSpPr>
          <p:cNvPr id="444" name="TextBox 7"/>
          <p:cNvSpPr/>
          <p:nvPr/>
        </p:nvSpPr>
        <p:spPr>
          <a:xfrm>
            <a:off x="640080" y="6263640"/>
            <a:ext cx="10881000" cy="36540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0" u="none" strike="noStrike">
                <a:solidFill>
                  <a:srgbClr val="A9BFD1"/>
                </a:solidFill>
                <a:effectLst/>
                <a:uFillTx/>
                <a:latin typeface="Calibri"/>
              </a:rPr>
              <a:t>Carlos Martínez Jaén · Open CVN · ESIIAB, Universidad de Castilla-La Mancha</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LibreOffice/26.2.5.2$Linux_X86_64 LibreOffice_project/6d2b0d33fb0f5da53a12f98bed3e9973e56ff1f0</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es-ES</dc:language>
  <cp:lastModifiedBy/>
  <dcterms:modified xsi:type="dcterms:W3CDTF">2026-09-07T12:36:14Z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